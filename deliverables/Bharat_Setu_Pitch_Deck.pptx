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Bharat Setu means 'India Bridge'. It is a multilingual, offline-first assistant that helps an Indian citizen discover, claim and track every government benefit they are entitled to. It is live on Vercel and fully open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binding constraint is not budget — it is information asymmetry. Six distinct barriers stack on top of each other, and the people most affected are exactly those the system is meant to protect.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justifies the engineering choices. If we had designed for a metropolitan English-speaking smartphone user, we would have built the wrong product.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views map to the citizen's real journey: discover, plan, understand, ask, prepare, escalate, protect, and find help. Everything is in one installable app — no app store, no signup, no data upload.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product. Because the reasoning is a rule engine over structured data, it is deterministic, auditable and instant — and it keeps working with no network. The citizen learns not just what they qualify for, but why.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we get AI benefits without AI risk in a government-services context. If the model is unavailable or behaves badly, the app degrades to a deterministic engine rather than inventing an answer. We verified this on the live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gave up the conveniences of a framework and a build step so that the entire product could run offline on a cheap phone. This is what makes the product credible for the Bharat context.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demo path we will walk the judges through. Every step is live on the public URL right now, and every step also works with the network switched off.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tiers, minimal surface. The front end is fully static and cacheable, the back end is a single stateless function, and the LLM is optional by design. There is no database to scale and no bundler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knowledge base is the product's substance. Each scheme is structured data with a rule block, an official portal, documents and steps — which is what lets the engine explain eligibility instead of guessing.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Inclusion is not a nice-to-have here — it is the whole point. The app is usable by someone who has never filled an online form, in their own language, by voice, on a small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deliverables are live and verified. The test suite runs against the actual shipped files, which is how we caught and fixed a real engine bug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maps directly onto the judging rubric so the evaluators can score quickly. Every criterion is backed by something concrete in the product rather than a claim.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the technology is live, tested and open source. The point is simple — access, in the citizen's own language, on the phone they already have, whether or not the network cooperates.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1168" y="0"/>
            <a:ext cx="731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0"/>
            <a:ext cx="73152" cy="6858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035040"/>
            <a:ext cx="12191695" cy="8229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051560"/>
            <a:ext cx="10058400" cy="457200"/>
          </a:xfrm>
          <a:prstGeom prst="rect">
            <a:avLst/>
          </a:prstGeom>
          <a:noFill/>
        </p:spPr>
        <p:txBody>
          <a:bodyPr wrap="square" anchor="t" lIns="36576" rIns="36576" tIns="0" bIns="0">
            <a:spAutoFit/>
          </a:bodyPr>
          <a:lstStyle/>
          <a:p>
            <a:pPr algn="l">
              <a:lnSpc>
                <a:spcPct val="112000"/>
              </a:lnSpc>
            </a:pPr>
            <a:r>
              <a:rPr sz="1300" b="1">
                <a:solidFill>
                  <a:srgbClr val="FF9933"/>
                </a:solidFill>
                <a:latin typeface="Calibri"/>
              </a:rPr>
              <a:t>AI FOR BHARAT &amp; PUBLIC SERVICES</a:t>
            </a:r>
          </a:p>
        </p:txBody>
      </p:sp>
      <p:sp>
        <p:nvSpPr>
          <p:cNvPr id="8" name="TextBox 7"/>
          <p:cNvSpPr txBox="1"/>
          <p:nvPr/>
        </p:nvSpPr>
        <p:spPr>
          <a:xfrm>
            <a:off x="914400" y="1481328"/>
            <a:ext cx="10332720" cy="1371600"/>
          </a:xfrm>
          <a:prstGeom prst="rect">
            <a:avLst/>
          </a:prstGeom>
          <a:noFill/>
        </p:spPr>
        <p:txBody>
          <a:bodyPr wrap="square" anchor="t" lIns="36576" rIns="36576" tIns="0" bIns="0">
            <a:spAutoFit/>
          </a:bodyPr>
          <a:lstStyle/>
          <a:p>
            <a:pPr algn="l">
              <a:lnSpc>
                <a:spcPct val="112000"/>
              </a:lnSpc>
            </a:pPr>
            <a:r>
              <a:rPr sz="5400" b="1">
                <a:solidFill>
                  <a:srgbClr val="0B3D91"/>
                </a:solidFill>
                <a:latin typeface="Calibri"/>
              </a:rPr>
              <a:t>Bharat Setu</a:t>
            </a:r>
          </a:p>
          <a:p>
            <a:pPr algn="l">
              <a:lnSpc>
                <a:spcPct val="112000"/>
              </a:lnSpc>
              <a:spcBef>
                <a:spcPts val="800"/>
              </a:spcBef>
            </a:pPr>
            <a:r>
              <a:rPr sz="2100" b="0">
                <a:solidFill>
                  <a:srgbClr val="5A647A"/>
                </a:solidFill>
                <a:latin typeface="Calibri"/>
              </a:rPr>
              <a:t>भारत सेतु  —  an AI bridge between citizens and their government</a:t>
            </a:r>
          </a:p>
        </p:txBody>
      </p:sp>
      <p:sp>
        <p:nvSpPr>
          <p:cNvPr id="9" name="TextBox 8"/>
          <p:cNvSpPr txBox="1"/>
          <p:nvPr/>
        </p:nvSpPr>
        <p:spPr>
          <a:xfrm>
            <a:off x="914400" y="2971800"/>
            <a:ext cx="9875520" cy="914400"/>
          </a:xfrm>
          <a:prstGeom prst="rect">
            <a:avLst/>
          </a:prstGeom>
          <a:noFill/>
        </p:spPr>
        <p:txBody>
          <a:bodyPr wrap="square" anchor="t" lIns="36576" rIns="36576" tIns="0" bIns="0">
            <a:spAutoFit/>
          </a:bodyPr>
          <a:lstStyle/>
          <a:p>
            <a:pPr algn="l">
              <a:lnSpc>
                <a:spcPct val="112000"/>
              </a:lnSpc>
            </a:pPr>
            <a:r>
              <a:rPr sz="1650" b="0">
                <a:solidFill>
                  <a:srgbClr val="141B2E"/>
                </a:solidFill>
                <a:latin typeface="Calibri"/>
              </a:rPr>
              <a:t>One profile → every scheme you are eligible for, with the exact reason, in 13 Indian languages,</a:t>
            </a:r>
          </a:p>
          <a:p>
            <a:pPr algn="l">
              <a:lnSpc>
                <a:spcPct val="112000"/>
              </a:lnSpc>
              <a:spcBef>
                <a:spcPts val="200"/>
              </a:spcBef>
            </a:pPr>
            <a:r>
              <a:rPr sz="1650" b="0">
                <a:solidFill>
                  <a:srgbClr val="141B2E"/>
                </a:solidFill>
                <a:latin typeface="Calibri"/>
              </a:rPr>
              <a:t>by voice or text, and fully offline.</a:t>
            </a:r>
          </a:p>
        </p:txBody>
      </p:sp>
      <p:sp>
        <p:nvSpPr>
          <p:cNvPr id="10" name="Rounded Rectangle 9"/>
          <p:cNvSpPr/>
          <p:nvPr/>
        </p:nvSpPr>
        <p:spPr>
          <a:xfrm>
            <a:off x="914400" y="3977639"/>
            <a:ext cx="1627632"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32503"/>
            <a:ext cx="1627632" cy="457200"/>
          </a:xfrm>
          <a:prstGeom prst="rect">
            <a:avLst/>
          </a:prstGeom>
          <a:noFill/>
        </p:spPr>
        <p:txBody>
          <a:bodyPr wrap="square" anchor="ctr" lIns="36576" rIns="36576" tIns="0" bIns="0">
            <a:spAutoFit/>
          </a:bodyPr>
          <a:lstStyle/>
          <a:p>
            <a:pPr algn="ctr">
              <a:lnSpc>
                <a:spcPct val="112000"/>
              </a:lnSpc>
            </a:pPr>
            <a:r>
              <a:rPr sz="1150" b="1">
                <a:solidFill>
                  <a:srgbClr val="0B3D91"/>
                </a:solidFill>
                <a:latin typeface="Calibri"/>
              </a:rPr>
              <a:t>43 schemes</a:t>
            </a:r>
          </a:p>
        </p:txBody>
      </p:sp>
      <p:sp>
        <p:nvSpPr>
          <p:cNvPr id="12" name="Rounded Rectangle 11"/>
          <p:cNvSpPr/>
          <p:nvPr/>
        </p:nvSpPr>
        <p:spPr>
          <a:xfrm>
            <a:off x="2697480" y="3977639"/>
            <a:ext cx="1627632"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97480" y="4032503"/>
            <a:ext cx="1627632" cy="457200"/>
          </a:xfrm>
          <a:prstGeom prst="rect">
            <a:avLst/>
          </a:prstGeom>
          <a:noFill/>
        </p:spPr>
        <p:txBody>
          <a:bodyPr wrap="square" anchor="ctr" lIns="36576" rIns="36576" tIns="0" bIns="0">
            <a:spAutoFit/>
          </a:bodyPr>
          <a:lstStyle/>
          <a:p>
            <a:pPr algn="ctr">
              <a:lnSpc>
                <a:spcPct val="112000"/>
              </a:lnSpc>
            </a:pPr>
            <a:r>
              <a:rPr sz="1150" b="1">
                <a:solidFill>
                  <a:srgbClr val="138808"/>
                </a:solidFill>
                <a:latin typeface="Calibri"/>
              </a:rPr>
              <a:t>13 languages</a:t>
            </a:r>
          </a:p>
        </p:txBody>
      </p:sp>
      <p:sp>
        <p:nvSpPr>
          <p:cNvPr id="14" name="Rounded Rectangle 13"/>
          <p:cNvSpPr/>
          <p:nvPr/>
        </p:nvSpPr>
        <p:spPr>
          <a:xfrm>
            <a:off x="4480560" y="3977639"/>
            <a:ext cx="1627632"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4032503"/>
            <a:ext cx="1627632" cy="457200"/>
          </a:xfrm>
          <a:prstGeom prst="rect">
            <a:avLst/>
          </a:prstGeom>
          <a:noFill/>
        </p:spPr>
        <p:txBody>
          <a:bodyPr wrap="square" anchor="ctr" lIns="36576" rIns="36576" tIns="0" bIns="0">
            <a:spAutoFit/>
          </a:bodyPr>
          <a:lstStyle/>
          <a:p>
            <a:pPr algn="ctr">
              <a:lnSpc>
                <a:spcPct val="112000"/>
              </a:lnSpc>
            </a:pPr>
            <a:r>
              <a:rPr sz="1150" b="1">
                <a:solidFill>
                  <a:srgbClr val="FF9933"/>
                </a:solidFill>
                <a:latin typeface="Calibri"/>
              </a:rPr>
              <a:t>83 documents</a:t>
            </a:r>
          </a:p>
        </p:txBody>
      </p:sp>
      <p:sp>
        <p:nvSpPr>
          <p:cNvPr id="16" name="Rounded Rectangle 15"/>
          <p:cNvSpPr/>
          <p:nvPr/>
        </p:nvSpPr>
        <p:spPr>
          <a:xfrm>
            <a:off x="6263640" y="3977639"/>
            <a:ext cx="1627632"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63640" y="4032503"/>
            <a:ext cx="1627632" cy="457200"/>
          </a:xfrm>
          <a:prstGeom prst="rect">
            <a:avLst/>
          </a:prstGeom>
          <a:noFill/>
        </p:spPr>
        <p:txBody>
          <a:bodyPr wrap="square" anchor="ctr" lIns="36576" rIns="36576" tIns="0" bIns="0">
            <a:spAutoFit/>
          </a:bodyPr>
          <a:lstStyle/>
          <a:p>
            <a:pPr algn="ctr">
              <a:lnSpc>
                <a:spcPct val="112000"/>
              </a:lnSpc>
            </a:pPr>
            <a:r>
              <a:rPr sz="1150" b="1">
                <a:solidFill>
                  <a:srgbClr val="0B3D91"/>
                </a:solidFill>
                <a:latin typeface="Calibri"/>
              </a:rPr>
              <a:t>12 helplines</a:t>
            </a:r>
          </a:p>
        </p:txBody>
      </p:sp>
      <p:sp>
        <p:nvSpPr>
          <p:cNvPr id="18" name="Rounded Rectangle 17"/>
          <p:cNvSpPr/>
          <p:nvPr/>
        </p:nvSpPr>
        <p:spPr>
          <a:xfrm>
            <a:off x="8046720" y="3977639"/>
            <a:ext cx="1627632"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0" y="4032503"/>
            <a:ext cx="1627632" cy="457200"/>
          </a:xfrm>
          <a:prstGeom prst="rect">
            <a:avLst/>
          </a:prstGeom>
          <a:noFill/>
        </p:spPr>
        <p:txBody>
          <a:bodyPr wrap="square" anchor="ctr" lIns="36576" rIns="36576" tIns="0" bIns="0">
            <a:spAutoFit/>
          </a:bodyPr>
          <a:lstStyle/>
          <a:p>
            <a:pPr algn="ctr">
              <a:lnSpc>
                <a:spcPct val="112000"/>
              </a:lnSpc>
            </a:pPr>
            <a:r>
              <a:rPr sz="1150" b="1">
                <a:solidFill>
                  <a:srgbClr val="138808"/>
                </a:solidFill>
                <a:latin typeface="Calibri"/>
              </a:rPr>
              <a:t>63/63 tests</a:t>
            </a:r>
          </a:p>
        </p:txBody>
      </p:sp>
      <p:sp>
        <p:nvSpPr>
          <p:cNvPr id="20" name="Rounded Rectangle 19"/>
          <p:cNvSpPr/>
          <p:nvPr/>
        </p:nvSpPr>
        <p:spPr>
          <a:xfrm>
            <a:off x="9829800" y="3977639"/>
            <a:ext cx="1627632"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800" y="4032503"/>
            <a:ext cx="1627632" cy="457200"/>
          </a:xfrm>
          <a:prstGeom prst="rect">
            <a:avLst/>
          </a:prstGeom>
          <a:noFill/>
        </p:spPr>
        <p:txBody>
          <a:bodyPr wrap="square" anchor="ctr" lIns="36576" rIns="36576" tIns="0" bIns="0">
            <a:spAutoFit/>
          </a:bodyPr>
          <a:lstStyle/>
          <a:p>
            <a:pPr algn="ctr">
              <a:lnSpc>
                <a:spcPct val="112000"/>
              </a:lnSpc>
            </a:pPr>
            <a:r>
              <a:rPr sz="1150" b="1">
                <a:solidFill>
                  <a:srgbClr val="FF9933"/>
                </a:solidFill>
                <a:latin typeface="Calibri"/>
              </a:rPr>
              <a:t>₹0 to citizen</a:t>
            </a:r>
          </a:p>
        </p:txBody>
      </p:sp>
      <p:sp>
        <p:nvSpPr>
          <p:cNvPr id="22" name="TextBox 21"/>
          <p:cNvSpPr txBox="1"/>
          <p:nvPr/>
        </p:nvSpPr>
        <p:spPr>
          <a:xfrm>
            <a:off x="914400" y="4800600"/>
            <a:ext cx="10058400" cy="731520"/>
          </a:xfrm>
          <a:prstGeom prst="rect">
            <a:avLst/>
          </a:prstGeom>
          <a:noFill/>
        </p:spPr>
        <p:txBody>
          <a:bodyPr wrap="square" anchor="t" lIns="36576" rIns="36576" tIns="0" bIns="0">
            <a:spAutoFit/>
          </a:bodyPr>
          <a:lstStyle/>
          <a:p>
            <a:pPr algn="l">
              <a:lnSpc>
                <a:spcPct val="112000"/>
              </a:lnSpc>
            </a:pPr>
            <a:r>
              <a:rPr sz="1400" b="1">
                <a:solidFill>
                  <a:srgbClr val="0B3D91"/>
                </a:solidFill>
                <a:latin typeface="Calibri"/>
              </a:rPr>
              <a:t>Live:  https://webapp-kohl-six-95.vercel.app</a:t>
            </a:r>
          </a:p>
          <a:p>
            <a:pPr algn="l">
              <a:lnSpc>
                <a:spcPct val="112000"/>
              </a:lnSpc>
              <a:spcBef>
                <a:spcPts val="400"/>
              </a:spcBef>
            </a:pPr>
            <a:r>
              <a:rPr sz="1400" b="0">
                <a:solidFill>
                  <a:srgbClr val="5A647A"/>
                </a:solidFill>
                <a:latin typeface="Calibri"/>
              </a:rPr>
              <a:t>Source:  https://github.com/no6546559-sketch/bharat-setu</a:t>
            </a:r>
          </a:p>
        </p:txBody>
      </p:sp>
      <p:sp>
        <p:nvSpPr>
          <p:cNvPr id="23" name="TextBox 22"/>
          <p:cNvSpPr txBox="1"/>
          <p:nvPr/>
        </p:nvSpPr>
        <p:spPr>
          <a:xfrm>
            <a:off x="914400" y="6172200"/>
            <a:ext cx="10058400" cy="365760"/>
          </a:xfrm>
          <a:prstGeom prst="rect">
            <a:avLst/>
          </a:prstGeom>
          <a:noFill/>
        </p:spPr>
        <p:txBody>
          <a:bodyPr wrap="square" anchor="t" lIns="36576" rIns="36576" tIns="0" bIns="0">
            <a:spAutoFit/>
          </a:bodyPr>
          <a:lstStyle/>
          <a:p>
            <a:pPr algn="l">
              <a:lnSpc>
                <a:spcPct val="112000"/>
              </a:lnSpc>
            </a:pPr>
            <a:r>
              <a:rPr sz="1200" b="1">
                <a:solidFill>
                  <a:srgbClr val="FFFFFF"/>
                </a:solidFill>
                <a:latin typeface="Calibri"/>
              </a:rPr>
              <a:t>112 emergency  ·  181 women  ·  1930 cyber fraud  ·  1098 child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THE PROBLEM</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Eligible citizens never receive their benefit</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2</a:t>
            </a:r>
          </a:p>
        </p:txBody>
      </p:sp>
      <p:sp>
        <p:nvSpPr>
          <p:cNvPr id="7" name="TextBox 6"/>
          <p:cNvSpPr txBox="1"/>
          <p:nvPr/>
        </p:nvSpPr>
        <p:spPr>
          <a:xfrm>
            <a:off x="548640" y="1325880"/>
            <a:ext cx="11064240" cy="457200"/>
          </a:xfrm>
          <a:prstGeom prst="rect">
            <a:avLst/>
          </a:prstGeom>
          <a:noFill/>
        </p:spPr>
        <p:txBody>
          <a:bodyPr wrap="square" anchor="t" lIns="36576" rIns="36576" tIns="0" bIns="0">
            <a:spAutoFit/>
          </a:bodyPr>
          <a:lstStyle/>
          <a:p>
            <a:pPr algn="l">
              <a:lnSpc>
                <a:spcPct val="112000"/>
              </a:lnSpc>
            </a:pPr>
            <a:r>
              <a:rPr sz="1550" b="0">
                <a:solidFill>
                  <a:srgbClr val="5A647A"/>
                </a:solidFill>
                <a:latin typeface="Calibri"/>
              </a:rPr>
              <a:t>India runs one of the largest welfare systems on earth. The barrier is rarely money — it is information.</a:t>
            </a:r>
          </a:p>
        </p:txBody>
      </p:sp>
      <p:sp>
        <p:nvSpPr>
          <p:cNvPr id="8" name="Rounded Rectangle 7"/>
          <p:cNvSpPr/>
          <p:nvPr/>
        </p:nvSpPr>
        <p:spPr>
          <a:xfrm>
            <a:off x="548640" y="1874519"/>
            <a:ext cx="5349240" cy="1005840"/>
          </a:xfrm>
          <a:prstGeom prst="roundRect">
            <a:avLst>
              <a:gd name="adj" fmla="val 12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74519"/>
            <a:ext cx="54864" cy="1005840"/>
          </a:xfrm>
          <a:prstGeom prst="rect">
            <a:avLst/>
          </a:prstGeom>
          <a:solidFill>
            <a:srgbClr val="C0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84247"/>
            <a:ext cx="5029200" cy="320040"/>
          </a:xfrm>
          <a:prstGeom prst="rect">
            <a:avLst/>
          </a:prstGeom>
          <a:noFill/>
        </p:spPr>
        <p:txBody>
          <a:bodyPr wrap="square" anchor="t" lIns="36576" rIns="36576" tIns="0" bIns="0">
            <a:spAutoFit/>
          </a:bodyPr>
          <a:lstStyle/>
          <a:p>
            <a:pPr algn="l">
              <a:lnSpc>
                <a:spcPct val="112000"/>
              </a:lnSpc>
            </a:pPr>
            <a:r>
              <a:rPr sz="1450" b="1">
                <a:solidFill>
                  <a:srgbClr val="0B3D91"/>
                </a:solidFill>
                <a:latin typeface="Calibri"/>
              </a:rPr>
              <a:t>🔍  Fragmented discovery</a:t>
            </a:r>
          </a:p>
        </p:txBody>
      </p:sp>
      <p:sp>
        <p:nvSpPr>
          <p:cNvPr id="11" name="TextBox 10"/>
          <p:cNvSpPr txBox="1"/>
          <p:nvPr/>
        </p:nvSpPr>
        <p:spPr>
          <a:xfrm>
            <a:off x="749808" y="2331719"/>
            <a:ext cx="5029200" cy="45720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Schemes are scattered across dozens of central and state portals.</a:t>
            </a:r>
          </a:p>
        </p:txBody>
      </p:sp>
      <p:sp>
        <p:nvSpPr>
          <p:cNvPr id="12" name="Rounded Rectangle 11"/>
          <p:cNvSpPr/>
          <p:nvPr/>
        </p:nvSpPr>
        <p:spPr>
          <a:xfrm>
            <a:off x="6172200" y="1874519"/>
            <a:ext cx="5349240" cy="1005840"/>
          </a:xfrm>
          <a:prstGeom prst="roundRect">
            <a:avLst>
              <a:gd name="adj" fmla="val 12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874519"/>
            <a:ext cx="54864" cy="1005840"/>
          </a:xfrm>
          <a:prstGeom prst="rect">
            <a:avLst/>
          </a:prstGeom>
          <a:solidFill>
            <a:srgbClr val="C0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1984247"/>
            <a:ext cx="5029200" cy="320040"/>
          </a:xfrm>
          <a:prstGeom prst="rect">
            <a:avLst/>
          </a:prstGeom>
          <a:noFill/>
        </p:spPr>
        <p:txBody>
          <a:bodyPr wrap="square" anchor="t" lIns="36576" rIns="36576" tIns="0" bIns="0">
            <a:spAutoFit/>
          </a:bodyPr>
          <a:lstStyle/>
          <a:p>
            <a:pPr algn="l">
              <a:lnSpc>
                <a:spcPct val="112000"/>
              </a:lnSpc>
            </a:pPr>
            <a:r>
              <a:rPr sz="1450" b="1">
                <a:solidFill>
                  <a:srgbClr val="0B3D91"/>
                </a:solidFill>
                <a:latin typeface="Calibri"/>
              </a:rPr>
              <a:t>🗣️  Language lock-out</a:t>
            </a:r>
          </a:p>
        </p:txBody>
      </p:sp>
      <p:sp>
        <p:nvSpPr>
          <p:cNvPr id="15" name="TextBox 14"/>
          <p:cNvSpPr txBox="1"/>
          <p:nvPr/>
        </p:nvSpPr>
        <p:spPr>
          <a:xfrm>
            <a:off x="6373368" y="2331719"/>
            <a:ext cx="5029200" cy="45720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Most portals are English-first; crores are excluded at the interface.</a:t>
            </a:r>
          </a:p>
        </p:txBody>
      </p:sp>
      <p:sp>
        <p:nvSpPr>
          <p:cNvPr id="16" name="Rounded Rectangle 15"/>
          <p:cNvSpPr/>
          <p:nvPr/>
        </p:nvSpPr>
        <p:spPr>
          <a:xfrm>
            <a:off x="548640" y="3044951"/>
            <a:ext cx="5349240" cy="1005840"/>
          </a:xfrm>
          <a:prstGeom prst="roundRect">
            <a:avLst>
              <a:gd name="adj" fmla="val 12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044951"/>
            <a:ext cx="54864" cy="1005840"/>
          </a:xfrm>
          <a:prstGeom prst="rect">
            <a:avLst/>
          </a:prstGeom>
          <a:solidFill>
            <a:srgbClr val="C0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154679"/>
            <a:ext cx="5029200" cy="320040"/>
          </a:xfrm>
          <a:prstGeom prst="rect">
            <a:avLst/>
          </a:prstGeom>
          <a:noFill/>
        </p:spPr>
        <p:txBody>
          <a:bodyPr wrap="square" anchor="t" lIns="36576" rIns="36576" tIns="0" bIns="0">
            <a:spAutoFit/>
          </a:bodyPr>
          <a:lstStyle/>
          <a:p>
            <a:pPr algn="l">
              <a:lnSpc>
                <a:spcPct val="112000"/>
              </a:lnSpc>
            </a:pPr>
            <a:r>
              <a:rPr sz="1450" b="1">
                <a:solidFill>
                  <a:srgbClr val="0B3D91"/>
                </a:solidFill>
                <a:latin typeface="Calibri"/>
              </a:rPr>
              <a:t>❓  Opaque rules</a:t>
            </a:r>
          </a:p>
        </p:txBody>
      </p:sp>
      <p:sp>
        <p:nvSpPr>
          <p:cNvPr id="19" name="TextBox 18"/>
          <p:cNvSpPr txBox="1"/>
          <p:nvPr/>
        </p:nvSpPr>
        <p:spPr>
          <a:xfrm>
            <a:off x="749808" y="3502151"/>
            <a:ext cx="5029200" cy="45720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People don't know WHY they were rejected or what to fix.</a:t>
            </a:r>
          </a:p>
        </p:txBody>
      </p:sp>
      <p:sp>
        <p:nvSpPr>
          <p:cNvPr id="20" name="Rounded Rectangle 19"/>
          <p:cNvSpPr/>
          <p:nvPr/>
        </p:nvSpPr>
        <p:spPr>
          <a:xfrm>
            <a:off x="6172200" y="3044951"/>
            <a:ext cx="5349240" cy="1005840"/>
          </a:xfrm>
          <a:prstGeom prst="roundRect">
            <a:avLst>
              <a:gd name="adj" fmla="val 12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2200" y="3044951"/>
            <a:ext cx="54864" cy="1005840"/>
          </a:xfrm>
          <a:prstGeom prst="rect">
            <a:avLst/>
          </a:prstGeom>
          <a:solidFill>
            <a:srgbClr val="C0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3154679"/>
            <a:ext cx="5029200" cy="320040"/>
          </a:xfrm>
          <a:prstGeom prst="rect">
            <a:avLst/>
          </a:prstGeom>
          <a:noFill/>
        </p:spPr>
        <p:txBody>
          <a:bodyPr wrap="square" anchor="t" lIns="36576" rIns="36576" tIns="0" bIns="0">
            <a:spAutoFit/>
          </a:bodyPr>
          <a:lstStyle/>
          <a:p>
            <a:pPr algn="l">
              <a:lnSpc>
                <a:spcPct val="112000"/>
              </a:lnSpc>
            </a:pPr>
            <a:r>
              <a:rPr sz="1450" b="1">
                <a:solidFill>
                  <a:srgbClr val="0B3D91"/>
                </a:solidFill>
                <a:latin typeface="Calibri"/>
              </a:rPr>
              <a:t>📄  Documentation chaos</a:t>
            </a:r>
          </a:p>
        </p:txBody>
      </p:sp>
      <p:sp>
        <p:nvSpPr>
          <p:cNvPr id="23" name="TextBox 22"/>
          <p:cNvSpPr txBox="1"/>
          <p:nvPr/>
        </p:nvSpPr>
        <p:spPr>
          <a:xfrm>
            <a:off x="6373368" y="3502151"/>
            <a:ext cx="5029200" cy="45720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An application stalls on one missing certificate.</a:t>
            </a:r>
          </a:p>
        </p:txBody>
      </p:sp>
      <p:sp>
        <p:nvSpPr>
          <p:cNvPr id="24" name="Rounded Rectangle 23"/>
          <p:cNvSpPr/>
          <p:nvPr/>
        </p:nvSpPr>
        <p:spPr>
          <a:xfrm>
            <a:off x="548640" y="4215383"/>
            <a:ext cx="5349240" cy="1005840"/>
          </a:xfrm>
          <a:prstGeom prst="roundRect">
            <a:avLst>
              <a:gd name="adj" fmla="val 12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215383"/>
            <a:ext cx="54864" cy="1005840"/>
          </a:xfrm>
          <a:prstGeom prst="rect">
            <a:avLst/>
          </a:prstGeom>
          <a:solidFill>
            <a:srgbClr val="C0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325111"/>
            <a:ext cx="5029200" cy="320040"/>
          </a:xfrm>
          <a:prstGeom prst="rect">
            <a:avLst/>
          </a:prstGeom>
          <a:noFill/>
        </p:spPr>
        <p:txBody>
          <a:bodyPr wrap="square" anchor="t" lIns="36576" rIns="36576" tIns="0" bIns="0">
            <a:spAutoFit/>
          </a:bodyPr>
          <a:lstStyle/>
          <a:p>
            <a:pPr algn="l">
              <a:lnSpc>
                <a:spcPct val="112000"/>
              </a:lnSpc>
            </a:pPr>
            <a:r>
              <a:rPr sz="1450" b="1">
                <a:solidFill>
                  <a:srgbClr val="0B3D91"/>
                </a:solidFill>
                <a:latin typeface="Calibri"/>
              </a:rPr>
              <a:t>⚖️  No recourse knowledge</a:t>
            </a:r>
          </a:p>
        </p:txBody>
      </p:sp>
      <p:sp>
        <p:nvSpPr>
          <p:cNvPr id="27" name="TextBox 26"/>
          <p:cNvSpPr txBox="1"/>
          <p:nvPr/>
        </p:nvSpPr>
        <p:spPr>
          <a:xfrm>
            <a:off x="749808" y="4672583"/>
            <a:ext cx="5029200" cy="45720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Citizens don't know RTI or grievance mechanisms exist.</a:t>
            </a:r>
          </a:p>
        </p:txBody>
      </p:sp>
      <p:sp>
        <p:nvSpPr>
          <p:cNvPr id="28" name="Rounded Rectangle 27"/>
          <p:cNvSpPr/>
          <p:nvPr/>
        </p:nvSpPr>
        <p:spPr>
          <a:xfrm>
            <a:off x="6172200" y="4215383"/>
            <a:ext cx="5349240" cy="1005840"/>
          </a:xfrm>
          <a:prstGeom prst="roundRect">
            <a:avLst>
              <a:gd name="adj" fmla="val 12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72200" y="4215383"/>
            <a:ext cx="54864" cy="1005840"/>
          </a:xfrm>
          <a:prstGeom prst="rect">
            <a:avLst/>
          </a:prstGeom>
          <a:solidFill>
            <a:srgbClr val="C0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3368" y="4325111"/>
            <a:ext cx="5029200" cy="320040"/>
          </a:xfrm>
          <a:prstGeom prst="rect">
            <a:avLst/>
          </a:prstGeom>
          <a:noFill/>
        </p:spPr>
        <p:txBody>
          <a:bodyPr wrap="square" anchor="t" lIns="36576" rIns="36576" tIns="0" bIns="0">
            <a:spAutoFit/>
          </a:bodyPr>
          <a:lstStyle/>
          <a:p>
            <a:pPr algn="l">
              <a:lnSpc>
                <a:spcPct val="112000"/>
              </a:lnSpc>
            </a:pPr>
            <a:r>
              <a:rPr sz="1450" b="1">
                <a:solidFill>
                  <a:srgbClr val="0B3D91"/>
                </a:solidFill>
                <a:latin typeface="Calibri"/>
              </a:rPr>
              <a:t>🕵️  Fraud &amp; middlemen</a:t>
            </a:r>
          </a:p>
        </p:txBody>
      </p:sp>
      <p:sp>
        <p:nvSpPr>
          <p:cNvPr id="31" name="TextBox 30"/>
          <p:cNvSpPr txBox="1"/>
          <p:nvPr/>
        </p:nvSpPr>
        <p:spPr>
          <a:xfrm>
            <a:off x="6373368" y="4672583"/>
            <a:ext cx="5029200" cy="45720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Fake benefit SMS, processing-fee scams, touts.</a:t>
            </a:r>
          </a:p>
        </p:txBody>
      </p:sp>
      <p:sp>
        <p:nvSpPr>
          <p:cNvPr id="32" name="TextBox 31"/>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WHO SUFFERS MOST</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The groups the system is meant to protect</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3</a:t>
            </a:r>
          </a:p>
        </p:txBody>
      </p:sp>
      <p:sp>
        <p:nvSpPr>
          <p:cNvPr id="7" name="TextBox 6"/>
          <p:cNvSpPr txBox="1"/>
          <p:nvPr/>
        </p:nvSpPr>
        <p:spPr>
          <a:xfrm>
            <a:off x="548640" y="1298448"/>
            <a:ext cx="11064240" cy="457200"/>
          </a:xfrm>
          <a:prstGeom prst="rect">
            <a:avLst/>
          </a:prstGeom>
          <a:noFill/>
        </p:spPr>
        <p:txBody>
          <a:bodyPr wrap="square" anchor="t" lIns="36576" rIns="36576" tIns="0" bIns="0">
            <a:spAutoFit/>
          </a:bodyPr>
          <a:lstStyle/>
          <a:p>
            <a:pPr algn="l">
              <a:lnSpc>
                <a:spcPct val="112000"/>
              </a:lnSpc>
            </a:pPr>
            <a:r>
              <a:rPr sz="1550" b="0">
                <a:solidFill>
                  <a:srgbClr val="5A647A"/>
                </a:solidFill>
                <a:latin typeface="Calibri"/>
              </a:rPr>
              <a:t>Any solution must therefore be simple, spoken, localised and trustworthy — not merely accurate.</a:t>
            </a:r>
          </a:p>
        </p:txBody>
      </p:sp>
      <p:sp>
        <p:nvSpPr>
          <p:cNvPr id="8" name="Rounded Rectangle 7"/>
          <p:cNvSpPr/>
          <p:nvPr/>
        </p:nvSpPr>
        <p:spPr>
          <a:xfrm>
            <a:off x="548640" y="1965960"/>
            <a:ext cx="1719072" cy="196596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94560"/>
            <a:ext cx="1719072" cy="822960"/>
          </a:xfrm>
          <a:prstGeom prst="rect">
            <a:avLst/>
          </a:prstGeom>
          <a:noFill/>
        </p:spPr>
        <p:txBody>
          <a:bodyPr wrap="square" anchor="t" lIns="36576" rIns="36576" tIns="0" bIns="0">
            <a:spAutoFit/>
          </a:bodyPr>
          <a:lstStyle/>
          <a:p>
            <a:pPr algn="ctr">
              <a:lnSpc>
                <a:spcPct val="112000"/>
              </a:lnSpc>
            </a:pPr>
            <a:r>
              <a:rPr sz="3400" b="0">
                <a:solidFill>
                  <a:srgbClr val="141B2E"/>
                </a:solidFill>
                <a:latin typeface="Calibri"/>
              </a:rPr>
              <a:t>🧓</a:t>
            </a:r>
          </a:p>
        </p:txBody>
      </p:sp>
      <p:sp>
        <p:nvSpPr>
          <p:cNvPr id="10" name="TextBox 9"/>
          <p:cNvSpPr txBox="1"/>
          <p:nvPr/>
        </p:nvSpPr>
        <p:spPr>
          <a:xfrm>
            <a:off x="640080" y="3063240"/>
            <a:ext cx="1536192" cy="822960"/>
          </a:xfrm>
          <a:prstGeom prst="rect">
            <a:avLst/>
          </a:prstGeom>
          <a:noFill/>
        </p:spPr>
        <p:txBody>
          <a:bodyPr wrap="square" anchor="t" lIns="36576" rIns="36576" tIns="0" bIns="0">
            <a:spAutoFit/>
          </a:bodyPr>
          <a:lstStyle/>
          <a:p>
            <a:pPr algn="ctr">
              <a:lnSpc>
                <a:spcPct val="112000"/>
              </a:lnSpc>
            </a:pPr>
            <a:r>
              <a:rPr sz="1250" b="1">
                <a:solidFill>
                  <a:srgbClr val="0B3D91"/>
                </a:solidFill>
                <a:latin typeface="Calibri"/>
              </a:rPr>
              <a:t>First-time
internet users</a:t>
            </a:r>
          </a:p>
        </p:txBody>
      </p:sp>
      <p:sp>
        <p:nvSpPr>
          <p:cNvPr id="11" name="Rounded Rectangle 10"/>
          <p:cNvSpPr/>
          <p:nvPr/>
        </p:nvSpPr>
        <p:spPr>
          <a:xfrm>
            <a:off x="2414016" y="1965960"/>
            <a:ext cx="1719072" cy="196596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14016" y="2194560"/>
            <a:ext cx="1719072" cy="822960"/>
          </a:xfrm>
          <a:prstGeom prst="rect">
            <a:avLst/>
          </a:prstGeom>
          <a:noFill/>
        </p:spPr>
        <p:txBody>
          <a:bodyPr wrap="square" anchor="t" lIns="36576" rIns="36576" tIns="0" bIns="0">
            <a:spAutoFit/>
          </a:bodyPr>
          <a:lstStyle/>
          <a:p>
            <a:pPr algn="ctr">
              <a:lnSpc>
                <a:spcPct val="112000"/>
              </a:lnSpc>
            </a:pPr>
            <a:r>
              <a:rPr sz="3400" b="0">
                <a:solidFill>
                  <a:srgbClr val="141B2E"/>
                </a:solidFill>
                <a:latin typeface="Calibri"/>
              </a:rPr>
              <a:t>🌾</a:t>
            </a:r>
          </a:p>
        </p:txBody>
      </p:sp>
      <p:sp>
        <p:nvSpPr>
          <p:cNvPr id="13" name="TextBox 12"/>
          <p:cNvSpPr txBox="1"/>
          <p:nvPr/>
        </p:nvSpPr>
        <p:spPr>
          <a:xfrm>
            <a:off x="2505456" y="3063240"/>
            <a:ext cx="1536192" cy="822960"/>
          </a:xfrm>
          <a:prstGeom prst="rect">
            <a:avLst/>
          </a:prstGeom>
          <a:noFill/>
        </p:spPr>
        <p:txBody>
          <a:bodyPr wrap="square" anchor="t" lIns="36576" rIns="36576" tIns="0" bIns="0">
            <a:spAutoFit/>
          </a:bodyPr>
          <a:lstStyle/>
          <a:p>
            <a:pPr algn="ctr">
              <a:lnSpc>
                <a:spcPct val="112000"/>
              </a:lnSpc>
            </a:pPr>
            <a:r>
              <a:rPr sz="1250" b="1">
                <a:solidFill>
                  <a:srgbClr val="0B3D91"/>
                </a:solidFill>
                <a:latin typeface="Calibri"/>
              </a:rPr>
              <a:t>Rural
households</a:t>
            </a:r>
          </a:p>
        </p:txBody>
      </p:sp>
      <p:sp>
        <p:nvSpPr>
          <p:cNvPr id="14" name="Rounded Rectangle 13"/>
          <p:cNvSpPr/>
          <p:nvPr/>
        </p:nvSpPr>
        <p:spPr>
          <a:xfrm>
            <a:off x="4279392" y="1965960"/>
            <a:ext cx="1719072" cy="196596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9392" y="2194560"/>
            <a:ext cx="1719072" cy="822960"/>
          </a:xfrm>
          <a:prstGeom prst="rect">
            <a:avLst/>
          </a:prstGeom>
          <a:noFill/>
        </p:spPr>
        <p:txBody>
          <a:bodyPr wrap="square" anchor="t" lIns="36576" rIns="36576" tIns="0" bIns="0">
            <a:spAutoFit/>
          </a:bodyPr>
          <a:lstStyle/>
          <a:p>
            <a:pPr algn="ctr">
              <a:lnSpc>
                <a:spcPct val="112000"/>
              </a:lnSpc>
            </a:pPr>
            <a:r>
              <a:rPr sz="3400" b="0">
                <a:solidFill>
                  <a:srgbClr val="141B2E"/>
                </a:solidFill>
                <a:latin typeface="Calibri"/>
              </a:rPr>
              <a:t>👩</a:t>
            </a:r>
          </a:p>
        </p:txBody>
      </p:sp>
      <p:sp>
        <p:nvSpPr>
          <p:cNvPr id="16" name="TextBox 15"/>
          <p:cNvSpPr txBox="1"/>
          <p:nvPr/>
        </p:nvSpPr>
        <p:spPr>
          <a:xfrm>
            <a:off x="4370832" y="3063240"/>
            <a:ext cx="1536192" cy="822960"/>
          </a:xfrm>
          <a:prstGeom prst="rect">
            <a:avLst/>
          </a:prstGeom>
          <a:noFill/>
        </p:spPr>
        <p:txBody>
          <a:bodyPr wrap="square" anchor="t" lIns="36576" rIns="36576" tIns="0" bIns="0">
            <a:spAutoFit/>
          </a:bodyPr>
          <a:lstStyle/>
          <a:p>
            <a:pPr algn="ctr">
              <a:lnSpc>
                <a:spcPct val="112000"/>
              </a:lnSpc>
            </a:pPr>
            <a:r>
              <a:rPr sz="1250" b="1">
                <a:solidFill>
                  <a:srgbClr val="0B3D91"/>
                </a:solidFill>
                <a:latin typeface="Calibri"/>
              </a:rPr>
              <a:t>Women</a:t>
            </a:r>
          </a:p>
        </p:txBody>
      </p:sp>
      <p:sp>
        <p:nvSpPr>
          <p:cNvPr id="17" name="Rounded Rectangle 16"/>
          <p:cNvSpPr/>
          <p:nvPr/>
        </p:nvSpPr>
        <p:spPr>
          <a:xfrm>
            <a:off x="6144768" y="1965960"/>
            <a:ext cx="1719072" cy="196596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44768" y="2194560"/>
            <a:ext cx="1719072" cy="822960"/>
          </a:xfrm>
          <a:prstGeom prst="rect">
            <a:avLst/>
          </a:prstGeom>
          <a:noFill/>
        </p:spPr>
        <p:txBody>
          <a:bodyPr wrap="square" anchor="t" lIns="36576" rIns="36576" tIns="0" bIns="0">
            <a:spAutoFit/>
          </a:bodyPr>
          <a:lstStyle/>
          <a:p>
            <a:pPr algn="ctr">
              <a:lnSpc>
                <a:spcPct val="112000"/>
              </a:lnSpc>
            </a:pPr>
            <a:r>
              <a:rPr sz="3400" b="0">
                <a:solidFill>
                  <a:srgbClr val="141B2E"/>
                </a:solidFill>
                <a:latin typeface="Calibri"/>
              </a:rPr>
              <a:t>👴</a:t>
            </a:r>
          </a:p>
        </p:txBody>
      </p:sp>
      <p:sp>
        <p:nvSpPr>
          <p:cNvPr id="19" name="TextBox 18"/>
          <p:cNvSpPr txBox="1"/>
          <p:nvPr/>
        </p:nvSpPr>
        <p:spPr>
          <a:xfrm>
            <a:off x="6236208" y="3063240"/>
            <a:ext cx="1536192" cy="822960"/>
          </a:xfrm>
          <a:prstGeom prst="rect">
            <a:avLst/>
          </a:prstGeom>
          <a:noFill/>
        </p:spPr>
        <p:txBody>
          <a:bodyPr wrap="square" anchor="t" lIns="36576" rIns="36576" tIns="0" bIns="0">
            <a:spAutoFit/>
          </a:bodyPr>
          <a:lstStyle/>
          <a:p>
            <a:pPr algn="ctr">
              <a:lnSpc>
                <a:spcPct val="112000"/>
              </a:lnSpc>
            </a:pPr>
            <a:r>
              <a:rPr sz="1250" b="1">
                <a:solidFill>
                  <a:srgbClr val="0B3D91"/>
                </a:solidFill>
                <a:latin typeface="Calibri"/>
              </a:rPr>
              <a:t>Senior
citizens</a:t>
            </a:r>
          </a:p>
        </p:txBody>
      </p:sp>
      <p:sp>
        <p:nvSpPr>
          <p:cNvPr id="20" name="Rounded Rectangle 19"/>
          <p:cNvSpPr/>
          <p:nvPr/>
        </p:nvSpPr>
        <p:spPr>
          <a:xfrm>
            <a:off x="8010144" y="1965960"/>
            <a:ext cx="1719072" cy="196596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0144" y="2194560"/>
            <a:ext cx="1719072" cy="822960"/>
          </a:xfrm>
          <a:prstGeom prst="rect">
            <a:avLst/>
          </a:prstGeom>
          <a:noFill/>
        </p:spPr>
        <p:txBody>
          <a:bodyPr wrap="square" anchor="t" lIns="36576" rIns="36576" tIns="0" bIns="0">
            <a:spAutoFit/>
          </a:bodyPr>
          <a:lstStyle/>
          <a:p>
            <a:pPr algn="ctr">
              <a:lnSpc>
                <a:spcPct val="112000"/>
              </a:lnSpc>
            </a:pPr>
            <a:r>
              <a:rPr sz="3400" b="0">
                <a:solidFill>
                  <a:srgbClr val="141B2E"/>
                </a:solidFill>
                <a:latin typeface="Calibri"/>
              </a:rPr>
              <a:t>♿</a:t>
            </a:r>
          </a:p>
        </p:txBody>
      </p:sp>
      <p:sp>
        <p:nvSpPr>
          <p:cNvPr id="22" name="TextBox 21"/>
          <p:cNvSpPr txBox="1"/>
          <p:nvPr/>
        </p:nvSpPr>
        <p:spPr>
          <a:xfrm>
            <a:off x="8101584" y="3063240"/>
            <a:ext cx="1536192" cy="822960"/>
          </a:xfrm>
          <a:prstGeom prst="rect">
            <a:avLst/>
          </a:prstGeom>
          <a:noFill/>
        </p:spPr>
        <p:txBody>
          <a:bodyPr wrap="square" anchor="t" lIns="36576" rIns="36576" tIns="0" bIns="0">
            <a:spAutoFit/>
          </a:bodyPr>
          <a:lstStyle/>
          <a:p>
            <a:pPr algn="ctr">
              <a:lnSpc>
                <a:spcPct val="112000"/>
              </a:lnSpc>
            </a:pPr>
            <a:r>
              <a:rPr sz="1250" b="1">
                <a:solidFill>
                  <a:srgbClr val="0B3D91"/>
                </a:solidFill>
                <a:latin typeface="Calibri"/>
              </a:rPr>
              <a:t>Persons with
disabilities</a:t>
            </a:r>
          </a:p>
        </p:txBody>
      </p:sp>
      <p:sp>
        <p:nvSpPr>
          <p:cNvPr id="23" name="Rounded Rectangle 22"/>
          <p:cNvSpPr/>
          <p:nvPr/>
        </p:nvSpPr>
        <p:spPr>
          <a:xfrm>
            <a:off x="9875520" y="1965960"/>
            <a:ext cx="1719072" cy="196596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20" y="2194560"/>
            <a:ext cx="1719072" cy="822960"/>
          </a:xfrm>
          <a:prstGeom prst="rect">
            <a:avLst/>
          </a:prstGeom>
          <a:noFill/>
        </p:spPr>
        <p:txBody>
          <a:bodyPr wrap="square" anchor="t" lIns="36576" rIns="36576" tIns="0" bIns="0">
            <a:spAutoFit/>
          </a:bodyPr>
          <a:lstStyle/>
          <a:p>
            <a:pPr algn="ctr">
              <a:lnSpc>
                <a:spcPct val="112000"/>
              </a:lnSpc>
            </a:pPr>
            <a:r>
              <a:rPr sz="3400" b="0">
                <a:solidFill>
                  <a:srgbClr val="141B2E"/>
                </a:solidFill>
                <a:latin typeface="Calibri"/>
              </a:rPr>
              <a:t>📖</a:t>
            </a:r>
          </a:p>
        </p:txBody>
      </p:sp>
      <p:sp>
        <p:nvSpPr>
          <p:cNvPr id="25" name="TextBox 24"/>
          <p:cNvSpPr txBox="1"/>
          <p:nvPr/>
        </p:nvSpPr>
        <p:spPr>
          <a:xfrm>
            <a:off x="9966960" y="3063240"/>
            <a:ext cx="1536192" cy="822960"/>
          </a:xfrm>
          <a:prstGeom prst="rect">
            <a:avLst/>
          </a:prstGeom>
          <a:noFill/>
        </p:spPr>
        <p:txBody>
          <a:bodyPr wrap="square" anchor="t" lIns="36576" rIns="36576" tIns="0" bIns="0">
            <a:spAutoFit/>
          </a:bodyPr>
          <a:lstStyle/>
          <a:p>
            <a:pPr algn="ctr">
              <a:lnSpc>
                <a:spcPct val="112000"/>
              </a:lnSpc>
            </a:pPr>
            <a:r>
              <a:rPr sz="1250" b="1">
                <a:solidFill>
                  <a:srgbClr val="0B3D91"/>
                </a:solidFill>
                <a:latin typeface="Calibri"/>
              </a:rPr>
              <a:t>Low-literacy
users</a:t>
            </a:r>
          </a:p>
        </p:txBody>
      </p:sp>
      <p:sp>
        <p:nvSpPr>
          <p:cNvPr id="26" name="Rounded Rectangle 25"/>
          <p:cNvSpPr/>
          <p:nvPr/>
        </p:nvSpPr>
        <p:spPr>
          <a:xfrm>
            <a:off x="548640" y="4251960"/>
            <a:ext cx="11091672" cy="1600200"/>
          </a:xfrm>
          <a:prstGeom prst="roundRect">
            <a:avLst>
              <a:gd name="adj" fmla="val 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434840"/>
            <a:ext cx="10607040" cy="12801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The design constraint this creates</a:t>
            </a:r>
          </a:p>
          <a:p>
            <a:pPr algn="l">
              <a:lnSpc>
                <a:spcPct val="112000"/>
              </a:lnSpc>
              <a:spcBef>
                <a:spcPts val="600"/>
              </a:spcBef>
            </a:pPr>
            <a:r>
              <a:rPr sz="1250" b="0">
                <a:solidFill>
                  <a:srgbClr val="141B2E"/>
                </a:solidFill>
                <a:latin typeface="Calibri"/>
              </a:rPr>
              <a:t>Every feature must survive three conditions at once:</a:t>
            </a:r>
          </a:p>
          <a:p>
            <a:pPr algn="l">
              <a:lnSpc>
                <a:spcPct val="112000"/>
              </a:lnSpc>
              <a:spcBef>
                <a:spcPts val="600"/>
              </a:spcBef>
            </a:pPr>
            <a:r>
              <a:rPr sz="1350" b="1">
                <a:solidFill>
                  <a:srgbClr val="138808"/>
                </a:solidFill>
                <a:latin typeface="Calibri"/>
              </a:rPr>
              <a:t>① a low-end phone  ② an intermittent network  ③ a user who has never filled an online form</a:t>
            </a:r>
          </a:p>
          <a:p>
            <a:pPr algn="l">
              <a:lnSpc>
                <a:spcPct val="112000"/>
              </a:lnSpc>
              <a:spcBef>
                <a:spcPts val="600"/>
              </a:spcBef>
            </a:pPr>
            <a:r>
              <a:rPr sz="1250" b="0">
                <a:solidFill>
                  <a:srgbClr val="5A647A"/>
                </a:solidFill>
                <a:latin typeface="Calibri"/>
              </a:rPr>
              <a:t>That is why Bharat Setu is offline-first, voice-enabled, and gives every answer a plain-language reason.</a:t>
            </a:r>
          </a:p>
        </p:txBody>
      </p:sp>
      <p:sp>
        <p:nvSpPr>
          <p:cNvPr id="28" name="TextBox 27"/>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THE SOLUTION</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Eight views, one installable app</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4</a:t>
            </a:r>
          </a:p>
        </p:txBody>
      </p:sp>
      <p:sp>
        <p:nvSpPr>
          <p:cNvPr id="7" name="Rounded Rectangle 6"/>
          <p:cNvSpPr/>
          <p:nvPr/>
        </p:nvSpPr>
        <p:spPr>
          <a:xfrm>
            <a:off x="548640" y="178308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83080"/>
            <a:ext cx="54864" cy="896112"/>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2938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10" name="TextBox 9"/>
          <p:cNvSpPr txBox="1"/>
          <p:nvPr/>
        </p:nvSpPr>
        <p:spPr>
          <a:xfrm>
            <a:off x="1298448" y="191109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Home</a:t>
            </a:r>
          </a:p>
        </p:txBody>
      </p:sp>
      <p:sp>
        <p:nvSpPr>
          <p:cNvPr id="11" name="TextBox 10"/>
          <p:cNvSpPr txBox="1"/>
          <p:nvPr/>
        </p:nvSpPr>
        <p:spPr>
          <a:xfrm>
            <a:off x="1298448" y="225856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One-tap entry points and key numbers</a:t>
            </a:r>
          </a:p>
        </p:txBody>
      </p:sp>
      <p:sp>
        <p:nvSpPr>
          <p:cNvPr id="12" name="Rounded Rectangle 11"/>
          <p:cNvSpPr/>
          <p:nvPr/>
        </p:nvSpPr>
        <p:spPr>
          <a:xfrm>
            <a:off x="6172200" y="178308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783080"/>
            <a:ext cx="54864" cy="89611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92938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15" name="TextBox 14"/>
          <p:cNvSpPr txBox="1"/>
          <p:nvPr/>
        </p:nvSpPr>
        <p:spPr>
          <a:xfrm>
            <a:off x="6922008" y="191109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Scheme Finder</a:t>
            </a:r>
          </a:p>
        </p:txBody>
      </p:sp>
      <p:sp>
        <p:nvSpPr>
          <p:cNvPr id="16" name="TextBox 15"/>
          <p:cNvSpPr txBox="1"/>
          <p:nvPr/>
        </p:nvSpPr>
        <p:spPr>
          <a:xfrm>
            <a:off x="6922008" y="225856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Ranked matches WITH the exact reason</a:t>
            </a:r>
          </a:p>
        </p:txBody>
      </p:sp>
      <p:sp>
        <p:nvSpPr>
          <p:cNvPr id="17" name="Rounded Rectangle 16"/>
          <p:cNvSpPr/>
          <p:nvPr/>
        </p:nvSpPr>
        <p:spPr>
          <a:xfrm>
            <a:off x="548640" y="283464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834640"/>
            <a:ext cx="54864" cy="896112"/>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298094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20" name="TextBox 19"/>
          <p:cNvSpPr txBox="1"/>
          <p:nvPr/>
        </p:nvSpPr>
        <p:spPr>
          <a:xfrm>
            <a:off x="1298448" y="296265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My Plan</a:t>
            </a:r>
          </a:p>
        </p:txBody>
      </p:sp>
      <p:sp>
        <p:nvSpPr>
          <p:cNvPr id="21" name="TextBox 20"/>
          <p:cNvSpPr txBox="1"/>
          <p:nvPr/>
        </p:nvSpPr>
        <p:spPr>
          <a:xfrm>
            <a:off x="1298448" y="331012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Tracker + readiness + ₹ benefit estimate</a:t>
            </a:r>
          </a:p>
        </p:txBody>
      </p:sp>
      <p:sp>
        <p:nvSpPr>
          <p:cNvPr id="22" name="Rounded Rectangle 21"/>
          <p:cNvSpPr/>
          <p:nvPr/>
        </p:nvSpPr>
        <p:spPr>
          <a:xfrm>
            <a:off x="6172200" y="283464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2834640"/>
            <a:ext cx="54864" cy="89611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298094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25" name="TextBox 24"/>
          <p:cNvSpPr txBox="1"/>
          <p:nvPr/>
        </p:nvSpPr>
        <p:spPr>
          <a:xfrm>
            <a:off x="6922008" y="296265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AI Assistant</a:t>
            </a:r>
          </a:p>
        </p:txBody>
      </p:sp>
      <p:sp>
        <p:nvSpPr>
          <p:cNvPr id="26" name="TextBox 25"/>
          <p:cNvSpPr txBox="1"/>
          <p:nvPr/>
        </p:nvSpPr>
        <p:spPr>
          <a:xfrm>
            <a:off x="6922008" y="331012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Grounded Q&amp;A, 13 languages, voice</a:t>
            </a:r>
          </a:p>
        </p:txBody>
      </p:sp>
      <p:sp>
        <p:nvSpPr>
          <p:cNvPr id="27" name="Rounded Rectangle 26"/>
          <p:cNvSpPr/>
          <p:nvPr/>
        </p:nvSpPr>
        <p:spPr>
          <a:xfrm>
            <a:off x="548640" y="388620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3886200"/>
            <a:ext cx="54864" cy="896112"/>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03250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30" name="TextBox 29"/>
          <p:cNvSpPr txBox="1"/>
          <p:nvPr/>
        </p:nvSpPr>
        <p:spPr>
          <a:xfrm>
            <a:off x="1298448" y="401421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Document Checker</a:t>
            </a:r>
          </a:p>
        </p:txBody>
      </p:sp>
      <p:sp>
        <p:nvSpPr>
          <p:cNvPr id="31" name="TextBox 30"/>
          <p:cNvSpPr txBox="1"/>
          <p:nvPr/>
        </p:nvSpPr>
        <p:spPr>
          <a:xfrm>
            <a:off x="1298448" y="436168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Readiness score, issuing office, timeline</a:t>
            </a:r>
          </a:p>
        </p:txBody>
      </p:sp>
      <p:sp>
        <p:nvSpPr>
          <p:cNvPr id="32" name="Rounded Rectangle 31"/>
          <p:cNvSpPr/>
          <p:nvPr/>
        </p:nvSpPr>
        <p:spPr>
          <a:xfrm>
            <a:off x="6172200" y="388620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2200" y="3886200"/>
            <a:ext cx="54864" cy="89611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403250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35" name="TextBox 34"/>
          <p:cNvSpPr txBox="1"/>
          <p:nvPr/>
        </p:nvSpPr>
        <p:spPr>
          <a:xfrm>
            <a:off x="6922008" y="401421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RTI &amp; Letters</a:t>
            </a:r>
          </a:p>
        </p:txBody>
      </p:sp>
      <p:sp>
        <p:nvSpPr>
          <p:cNvPr id="36" name="TextBox 35"/>
          <p:cNvSpPr txBox="1"/>
          <p:nvPr/>
        </p:nvSpPr>
        <p:spPr>
          <a:xfrm>
            <a:off x="6922008" y="436168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RTI, grievance, scheme, certificate</a:t>
            </a:r>
          </a:p>
        </p:txBody>
      </p:sp>
      <p:sp>
        <p:nvSpPr>
          <p:cNvPr id="37" name="Rounded Rectangle 36"/>
          <p:cNvSpPr/>
          <p:nvPr/>
        </p:nvSpPr>
        <p:spPr>
          <a:xfrm>
            <a:off x="548640" y="493776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4937760"/>
            <a:ext cx="54864" cy="896112"/>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508406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40" name="TextBox 39"/>
          <p:cNvSpPr txBox="1"/>
          <p:nvPr/>
        </p:nvSpPr>
        <p:spPr>
          <a:xfrm>
            <a:off x="1298448" y="506577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Fraud Shield</a:t>
            </a:r>
          </a:p>
        </p:txBody>
      </p:sp>
      <p:sp>
        <p:nvSpPr>
          <p:cNvPr id="41" name="TextBox 40"/>
          <p:cNvSpPr txBox="1"/>
          <p:nvPr/>
        </p:nvSpPr>
        <p:spPr>
          <a:xfrm>
            <a:off x="1298448" y="541324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Risk /100, red flags, next actions</a:t>
            </a:r>
          </a:p>
        </p:txBody>
      </p:sp>
      <p:sp>
        <p:nvSpPr>
          <p:cNvPr id="42" name="Rounded Rectangle 41"/>
          <p:cNvSpPr/>
          <p:nvPr/>
        </p:nvSpPr>
        <p:spPr>
          <a:xfrm>
            <a:off x="6172200" y="4937760"/>
            <a:ext cx="5349240" cy="896112"/>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72200" y="4937760"/>
            <a:ext cx="54864" cy="896112"/>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55080" y="5084064"/>
            <a:ext cx="548640" cy="548640"/>
          </a:xfrm>
          <a:prstGeom prst="rect">
            <a:avLst/>
          </a:prstGeom>
          <a:noFill/>
        </p:spPr>
        <p:txBody>
          <a:bodyPr wrap="square" anchor="t" lIns="36576" rIns="36576" tIns="0" bIns="0">
            <a:spAutoFit/>
          </a:bodyPr>
          <a:lstStyle/>
          <a:p>
            <a:pPr algn="l">
              <a:lnSpc>
                <a:spcPct val="112000"/>
              </a:lnSpc>
            </a:pPr>
            <a:r>
              <a:rPr sz="2000" b="0">
                <a:solidFill>
                  <a:srgbClr val="141B2E"/>
                </a:solidFill>
                <a:latin typeface="Calibri"/>
              </a:rPr>
              <a:t>📞</a:t>
            </a:r>
          </a:p>
        </p:txBody>
      </p:sp>
      <p:sp>
        <p:nvSpPr>
          <p:cNvPr id="45" name="TextBox 44"/>
          <p:cNvSpPr txBox="1"/>
          <p:nvPr/>
        </p:nvSpPr>
        <p:spPr>
          <a:xfrm>
            <a:off x="6922008" y="5065776"/>
            <a:ext cx="448056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Helplines &amp; Help</a:t>
            </a:r>
          </a:p>
        </p:txBody>
      </p:sp>
      <p:sp>
        <p:nvSpPr>
          <p:cNvPr id="46" name="TextBox 45"/>
          <p:cNvSpPr txBox="1"/>
          <p:nvPr/>
        </p:nvSpPr>
        <p:spPr>
          <a:xfrm>
            <a:off x="6922008" y="5413248"/>
            <a:ext cx="4480560" cy="36576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12 helplines + plain-language glossary</a:t>
            </a:r>
          </a:p>
        </p:txBody>
      </p:sp>
      <p:sp>
        <p:nvSpPr>
          <p:cNvPr id="47" name="TextBox 46"/>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INNOVATION 1</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Explainable eligibility — a verdict WITH evidence</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5</a:t>
            </a:r>
          </a:p>
        </p:txBody>
      </p:sp>
      <p:sp>
        <p:nvSpPr>
          <p:cNvPr id="7" name="TextBox 6"/>
          <p:cNvSpPr txBox="1"/>
          <p:nvPr/>
        </p:nvSpPr>
        <p:spPr>
          <a:xfrm>
            <a:off x="548640" y="1298448"/>
            <a:ext cx="11064240" cy="457200"/>
          </a:xfrm>
          <a:prstGeom prst="rect">
            <a:avLst/>
          </a:prstGeom>
          <a:noFill/>
        </p:spPr>
        <p:txBody>
          <a:bodyPr wrap="square" anchor="t" lIns="36576" rIns="36576" tIns="0" bIns="0">
            <a:spAutoFit/>
          </a:bodyPr>
          <a:lstStyle/>
          <a:p>
            <a:pPr algn="l">
              <a:lnSpc>
                <a:spcPct val="112000"/>
              </a:lnSpc>
            </a:pPr>
            <a:r>
              <a:rPr sz="1500" b="0">
                <a:solidFill>
                  <a:srgbClr val="5A647A"/>
                </a:solidFill>
                <a:latin typeface="Calibri"/>
              </a:rPr>
              <a:t>Most scheme finders return a bare list. Bharat Setu returns the reason, produced by a deterministic rule engine — not an LLM.</a:t>
            </a:r>
          </a:p>
        </p:txBody>
      </p:sp>
      <p:sp>
        <p:nvSpPr>
          <p:cNvPr id="8" name="Rounded Rectangle 7"/>
          <p:cNvSpPr/>
          <p:nvPr/>
        </p:nvSpPr>
        <p:spPr>
          <a:xfrm>
            <a:off x="548640" y="1874519"/>
            <a:ext cx="6583680" cy="3931920"/>
          </a:xfrm>
          <a:prstGeom prst="roundRect">
            <a:avLst>
              <a:gd name="adj" fmla="val 6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57400"/>
            <a:ext cx="6035040" cy="365760"/>
          </a:xfrm>
          <a:prstGeom prst="rect">
            <a:avLst/>
          </a:prstGeom>
          <a:noFill/>
        </p:spPr>
        <p:txBody>
          <a:bodyPr wrap="square" anchor="t" lIns="36576" rIns="36576" tIns="0" bIns="0">
            <a:spAutoFit/>
          </a:bodyPr>
          <a:lstStyle/>
          <a:p>
            <a:pPr algn="l">
              <a:lnSpc>
                <a:spcPct val="112000"/>
              </a:lnSpc>
            </a:pPr>
            <a:r>
              <a:rPr sz="1400" b="1">
                <a:solidFill>
                  <a:srgbClr val="0B3D91"/>
                </a:solidFill>
                <a:latin typeface="Calibri"/>
              </a:rPr>
              <a:t>PM Kisan Samman Nidhi  —  verdict: STRONG MATCH</a:t>
            </a:r>
          </a:p>
        </p:txBody>
      </p:sp>
      <p:sp>
        <p:nvSpPr>
          <p:cNvPr id="10" name="Rounded Rectangle 9"/>
          <p:cNvSpPr/>
          <p:nvPr/>
        </p:nvSpPr>
        <p:spPr>
          <a:xfrm>
            <a:off x="822960" y="2560320"/>
            <a:ext cx="6035040" cy="475488"/>
          </a:xfrm>
          <a:prstGeom prst="roundRect">
            <a:avLst>
              <a:gd name="adj" fmla="val 2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660904"/>
            <a:ext cx="5760720" cy="365760"/>
          </a:xfrm>
          <a:prstGeom prst="rect">
            <a:avLst/>
          </a:prstGeom>
          <a:noFill/>
        </p:spPr>
        <p:txBody>
          <a:bodyPr wrap="square" anchor="t" lIns="36576" rIns="36576" tIns="0" bIns="0">
            <a:spAutoFit/>
          </a:bodyPr>
          <a:lstStyle/>
          <a:p>
            <a:pPr algn="l">
              <a:lnSpc>
                <a:spcPct val="112000"/>
              </a:lnSpc>
            </a:pPr>
            <a:r>
              <a:rPr sz="1300" b="1">
                <a:solidFill>
                  <a:srgbClr val="138808"/>
                </a:solidFill>
                <a:latin typeface="Calibri"/>
              </a:rPr>
              <a:t>✓  Age 34 is within the eligible band 18–120</a:t>
            </a:r>
          </a:p>
        </p:txBody>
      </p:sp>
      <p:sp>
        <p:nvSpPr>
          <p:cNvPr id="12" name="Rounded Rectangle 11"/>
          <p:cNvSpPr/>
          <p:nvPr/>
        </p:nvSpPr>
        <p:spPr>
          <a:xfrm>
            <a:off x="822960" y="3127248"/>
            <a:ext cx="6035040" cy="475488"/>
          </a:xfrm>
          <a:prstGeom prst="roundRect">
            <a:avLst>
              <a:gd name="adj" fmla="val 2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227832"/>
            <a:ext cx="5760720" cy="365760"/>
          </a:xfrm>
          <a:prstGeom prst="rect">
            <a:avLst/>
          </a:prstGeom>
          <a:noFill/>
        </p:spPr>
        <p:txBody>
          <a:bodyPr wrap="square" anchor="t" lIns="36576" rIns="36576" tIns="0" bIns="0">
            <a:spAutoFit/>
          </a:bodyPr>
          <a:lstStyle/>
          <a:p>
            <a:pPr algn="l">
              <a:lnSpc>
                <a:spcPct val="112000"/>
              </a:lnSpc>
            </a:pPr>
            <a:r>
              <a:rPr sz="1300" b="1">
                <a:solidFill>
                  <a:srgbClr val="138808"/>
                </a:solidFill>
                <a:latin typeface="Calibri"/>
              </a:rPr>
              <a:t>✓  Rural residence matches the scheme area</a:t>
            </a:r>
          </a:p>
        </p:txBody>
      </p:sp>
      <p:sp>
        <p:nvSpPr>
          <p:cNvPr id="14" name="Rounded Rectangle 13"/>
          <p:cNvSpPr/>
          <p:nvPr/>
        </p:nvSpPr>
        <p:spPr>
          <a:xfrm>
            <a:off x="822960" y="3694176"/>
            <a:ext cx="6035040" cy="475488"/>
          </a:xfrm>
          <a:prstGeom prst="roundRect">
            <a:avLst>
              <a:gd name="adj" fmla="val 2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794760"/>
            <a:ext cx="5760720" cy="365760"/>
          </a:xfrm>
          <a:prstGeom prst="rect">
            <a:avLst/>
          </a:prstGeom>
          <a:noFill/>
        </p:spPr>
        <p:txBody>
          <a:bodyPr wrap="square" anchor="t" lIns="36576" rIns="36576" tIns="0" bIns="0">
            <a:spAutoFit/>
          </a:bodyPr>
          <a:lstStyle/>
          <a:p>
            <a:pPr algn="l">
              <a:lnSpc>
                <a:spcPct val="112000"/>
              </a:lnSpc>
            </a:pPr>
            <a:r>
              <a:rPr sz="1300" b="1">
                <a:solidFill>
                  <a:srgbClr val="138808"/>
                </a:solidFill>
                <a:latin typeface="Calibri"/>
              </a:rPr>
              <a:t>✓  Land holding 1.5 acre(s) is within limits</a:t>
            </a:r>
          </a:p>
        </p:txBody>
      </p:sp>
      <p:sp>
        <p:nvSpPr>
          <p:cNvPr id="16" name="Rounded Rectangle 15"/>
          <p:cNvSpPr/>
          <p:nvPr/>
        </p:nvSpPr>
        <p:spPr>
          <a:xfrm>
            <a:off x="822960" y="4261104"/>
            <a:ext cx="6035040" cy="475488"/>
          </a:xfrm>
          <a:prstGeom prst="roundRect">
            <a:avLst>
              <a:gd name="adj" fmla="val 2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61688"/>
            <a:ext cx="5760720" cy="365760"/>
          </a:xfrm>
          <a:prstGeom prst="rect">
            <a:avLst/>
          </a:prstGeom>
          <a:noFill/>
        </p:spPr>
        <p:txBody>
          <a:bodyPr wrap="square" anchor="t" lIns="36576" rIns="36576" tIns="0" bIns="0">
            <a:spAutoFit/>
          </a:bodyPr>
          <a:lstStyle/>
          <a:p>
            <a:pPr algn="l">
              <a:lnSpc>
                <a:spcPct val="112000"/>
              </a:lnSpc>
            </a:pPr>
            <a:r>
              <a:rPr sz="1300" b="1">
                <a:solidFill>
                  <a:srgbClr val="C02B2B"/>
                </a:solidFill>
                <a:latin typeface="Calibri"/>
              </a:rPr>
              <a:t>✕  Income limit is ₹6,00,000/year</a:t>
            </a:r>
          </a:p>
        </p:txBody>
      </p:sp>
      <p:sp>
        <p:nvSpPr>
          <p:cNvPr id="18" name="Rounded Rectangle 17"/>
          <p:cNvSpPr/>
          <p:nvPr/>
        </p:nvSpPr>
        <p:spPr>
          <a:xfrm>
            <a:off x="7360920" y="1874519"/>
            <a:ext cx="4279392" cy="1874519"/>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1874519"/>
            <a:ext cx="64008" cy="1874519"/>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0376" y="2020823"/>
            <a:ext cx="3867912"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Why this matters</a:t>
            </a:r>
          </a:p>
        </p:txBody>
      </p:sp>
      <p:sp>
        <p:nvSpPr>
          <p:cNvPr id="21" name="TextBox 20"/>
          <p:cNvSpPr txBox="1"/>
          <p:nvPr/>
        </p:nvSpPr>
        <p:spPr>
          <a:xfrm>
            <a:off x="7580376" y="2441447"/>
            <a:ext cx="3867912" cy="1142999"/>
          </a:xfrm>
          <a:prstGeom prst="rect">
            <a:avLst/>
          </a:prstGeom>
          <a:noFill/>
        </p:spPr>
        <p:txBody>
          <a:bodyPr wrap="square" anchor="t" lIns="36576" rIns="36576" tIns="0" bIns="0">
            <a:spAutoFit/>
          </a:bodyPr>
          <a:lstStyle/>
          <a:p>
            <a:pPr algn="l">
              <a:lnSpc>
                <a:spcPct val="112000"/>
              </a:lnSpc>
            </a:pPr>
            <a:r>
              <a:rPr sz="1250" b="0">
                <a:solidFill>
                  <a:srgbClr val="141B2E"/>
                </a:solidFill>
                <a:latin typeface="Calibri"/>
              </a:rPr>
              <a:t>•  Auditable — the rule that fired is shown</a:t>
            </a:r>
          </a:p>
          <a:p>
            <a:pPr algn="l">
              <a:lnSpc>
                <a:spcPct val="112000"/>
              </a:lnSpc>
            </a:pPr>
            <a:r>
              <a:rPr sz="1250" b="0">
                <a:solidFill>
                  <a:srgbClr val="141B2E"/>
                </a:solidFill>
                <a:latin typeface="Calibri"/>
              </a:rPr>
              <a:t>•  Instant — no network round-trip</a:t>
            </a:r>
          </a:p>
          <a:p>
            <a:pPr algn="l">
              <a:lnSpc>
                <a:spcPct val="112000"/>
              </a:lnSpc>
            </a:pPr>
            <a:r>
              <a:rPr sz="1250" b="0">
                <a:solidFill>
                  <a:srgbClr val="141B2E"/>
                </a:solidFill>
                <a:latin typeface="Calibri"/>
              </a:rPr>
              <a:t>•  Works offline — pure on-device JS</a:t>
            </a:r>
          </a:p>
          <a:p>
            <a:pPr algn="l">
              <a:lnSpc>
                <a:spcPct val="112000"/>
              </a:lnSpc>
            </a:pPr>
            <a:r>
              <a:rPr sz="1250" b="0">
                <a:solidFill>
                  <a:srgbClr val="141B2E"/>
                </a:solidFill>
                <a:latin typeface="Calibri"/>
              </a:rPr>
              <a:t>•  Never hallucinated — no LLM involved</a:t>
            </a:r>
          </a:p>
        </p:txBody>
      </p:sp>
      <p:sp>
        <p:nvSpPr>
          <p:cNvPr id="22" name="Rounded Rectangle 21"/>
          <p:cNvSpPr/>
          <p:nvPr/>
        </p:nvSpPr>
        <p:spPr>
          <a:xfrm>
            <a:off x="7360920" y="3931920"/>
            <a:ext cx="4279392" cy="1874519"/>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60920" y="3931920"/>
            <a:ext cx="64008" cy="1874519"/>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0376" y="4078224"/>
            <a:ext cx="3867912"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How it works</a:t>
            </a:r>
          </a:p>
        </p:txBody>
      </p:sp>
      <p:sp>
        <p:nvSpPr>
          <p:cNvPr id="25" name="TextBox 24"/>
          <p:cNvSpPr txBox="1"/>
          <p:nvPr/>
        </p:nvSpPr>
        <p:spPr>
          <a:xfrm>
            <a:off x="7580376" y="4498848"/>
            <a:ext cx="3867912" cy="1142999"/>
          </a:xfrm>
          <a:prstGeom prst="rect">
            <a:avLst/>
          </a:prstGeom>
          <a:noFill/>
        </p:spPr>
        <p:txBody>
          <a:bodyPr wrap="square" anchor="t" lIns="36576" rIns="36576" tIns="0" bIns="0">
            <a:spAutoFit/>
          </a:bodyPr>
          <a:lstStyle/>
          <a:p>
            <a:pPr algn="l">
              <a:lnSpc>
                <a:spcPct val="112000"/>
              </a:lnSpc>
            </a:pPr>
            <a:r>
              <a:rPr sz="1250" b="0">
                <a:solidFill>
                  <a:srgbClr val="141B2E"/>
                </a:solidFill>
                <a:latin typeface="Calibri"/>
              </a:rPr>
              <a:t>•  Each scheme carries a rules{} block</a:t>
            </a:r>
          </a:p>
          <a:p>
            <a:pPr algn="l">
              <a:lnSpc>
                <a:spcPct val="112000"/>
              </a:lnSpc>
            </a:pPr>
            <a:r>
              <a:rPr sz="1250" b="0">
                <a:solidFill>
                  <a:srgbClr val="141B2E"/>
                </a:solidFill>
                <a:latin typeface="Calibri"/>
              </a:rPr>
              <a:t>•  Hard identity checks → blockers</a:t>
            </a:r>
          </a:p>
          <a:p>
            <a:pPr algn="l">
              <a:lnSpc>
                <a:spcPct val="112000"/>
              </a:lnSpc>
            </a:pPr>
            <a:r>
              <a:rPr sz="1250" b="0">
                <a:solidFill>
                  <a:srgbClr val="141B2E"/>
                </a:solidFill>
                <a:latin typeface="Calibri"/>
              </a:rPr>
              <a:t>•  Soft checks (age, income, land) → score</a:t>
            </a:r>
          </a:p>
          <a:p>
            <a:pPr algn="l">
              <a:lnSpc>
                <a:spcPct val="112000"/>
              </a:lnSpc>
            </a:pPr>
            <a:r>
              <a:rPr sz="1250" b="0">
                <a:solidFill>
                  <a:srgbClr val="141B2E"/>
                </a:solidFill>
                <a:latin typeface="Calibri"/>
              </a:rPr>
              <a:t>•  Verdict: high / mid / low / none</a:t>
            </a:r>
          </a:p>
        </p:txBody>
      </p:sp>
      <p:sp>
        <p:nvSpPr>
          <p:cNvPr id="26" name="TextBox 25"/>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INNOVATION 2</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Grounded AI that can only add richness — never risk correctness</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6</a:t>
            </a:r>
          </a:p>
        </p:txBody>
      </p:sp>
      <p:sp>
        <p:nvSpPr>
          <p:cNvPr id="7" name="TextBox 6"/>
          <p:cNvSpPr txBox="1"/>
          <p:nvPr/>
        </p:nvSpPr>
        <p:spPr>
          <a:xfrm>
            <a:off x="548640" y="1298448"/>
            <a:ext cx="11064240" cy="457200"/>
          </a:xfrm>
          <a:prstGeom prst="rect">
            <a:avLst/>
          </a:prstGeom>
          <a:noFill/>
        </p:spPr>
        <p:txBody>
          <a:bodyPr wrap="square" anchor="t" lIns="36576" rIns="36576" tIns="0" bIns="0">
            <a:spAutoFit/>
          </a:bodyPr>
          <a:lstStyle/>
          <a:p>
            <a:pPr algn="l">
              <a:lnSpc>
                <a:spcPct val="112000"/>
              </a:lnSpc>
            </a:pPr>
            <a:r>
              <a:rPr sz="1500" b="0">
                <a:solidFill>
                  <a:srgbClr val="5A647A"/>
                </a:solidFill>
                <a:latin typeface="Calibri"/>
              </a:rPr>
              <a:t>The LLM is never the source of truth. Its prompt is built from the same knowledge base the UI uses.</a:t>
            </a:r>
          </a:p>
        </p:txBody>
      </p:sp>
      <p:sp>
        <p:nvSpPr>
          <p:cNvPr id="8" name="Rounded Rectangle 7"/>
          <p:cNvSpPr/>
          <p:nvPr/>
        </p:nvSpPr>
        <p:spPr>
          <a:xfrm>
            <a:off x="548640" y="1965960"/>
            <a:ext cx="2615184" cy="16916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65960"/>
            <a:ext cx="2615184" cy="914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94560"/>
            <a:ext cx="2615184" cy="548640"/>
          </a:xfrm>
          <a:prstGeom prst="rect">
            <a:avLst/>
          </a:prstGeom>
          <a:noFill/>
        </p:spPr>
        <p:txBody>
          <a:bodyPr wrap="square" anchor="t" lIns="36576" rIns="36576" tIns="0" bIns="0">
            <a:spAutoFit/>
          </a:bodyPr>
          <a:lstStyle/>
          <a:p>
            <a:pPr algn="ctr">
              <a:lnSpc>
                <a:spcPct val="112000"/>
              </a:lnSpc>
            </a:pPr>
            <a:r>
              <a:rPr sz="3000" b="1">
                <a:solidFill>
                  <a:srgbClr val="0B3D91"/>
                </a:solidFill>
                <a:latin typeface="Calibri"/>
              </a:rPr>
              <a:t>1</a:t>
            </a:r>
          </a:p>
        </p:txBody>
      </p:sp>
      <p:sp>
        <p:nvSpPr>
          <p:cNvPr id="11" name="TextBox 10"/>
          <p:cNvSpPr txBox="1"/>
          <p:nvPr/>
        </p:nvSpPr>
        <p:spPr>
          <a:xfrm>
            <a:off x="731520" y="2834640"/>
            <a:ext cx="2249424" cy="731520"/>
          </a:xfrm>
          <a:prstGeom prst="rect">
            <a:avLst/>
          </a:prstGeom>
          <a:noFill/>
        </p:spPr>
        <p:txBody>
          <a:bodyPr wrap="square" anchor="t" lIns="36576" rIns="36576" tIns="0" bIns="0">
            <a:spAutoFit/>
          </a:bodyPr>
          <a:lstStyle/>
          <a:p>
            <a:pPr algn="ctr">
              <a:lnSpc>
                <a:spcPct val="112000"/>
              </a:lnSpc>
            </a:pPr>
            <a:r>
              <a:rPr sz="1250" b="1">
                <a:solidFill>
                  <a:srgbClr val="141B2E"/>
                </a:solidFill>
                <a:latin typeface="Calibri"/>
              </a:rPr>
              <a:t>System prompt built
from the curated KB</a:t>
            </a:r>
          </a:p>
        </p:txBody>
      </p:sp>
      <p:sp>
        <p:nvSpPr>
          <p:cNvPr id="12" name="TextBox 11"/>
          <p:cNvSpPr txBox="1"/>
          <p:nvPr/>
        </p:nvSpPr>
        <p:spPr>
          <a:xfrm>
            <a:off x="3163824" y="2651760"/>
            <a:ext cx="228600" cy="365760"/>
          </a:xfrm>
          <a:prstGeom prst="rect">
            <a:avLst/>
          </a:prstGeom>
          <a:noFill/>
        </p:spPr>
        <p:txBody>
          <a:bodyPr wrap="square" anchor="t" lIns="36576" rIns="36576" tIns="0" bIns="0">
            <a:spAutoFit/>
          </a:bodyPr>
          <a:lstStyle/>
          <a:p>
            <a:pPr algn="ctr">
              <a:lnSpc>
                <a:spcPct val="112000"/>
              </a:lnSpc>
            </a:pPr>
            <a:r>
              <a:rPr sz="2200" b="1">
                <a:solidFill>
                  <a:srgbClr val="5A647A"/>
                </a:solidFill>
                <a:latin typeface="Calibri"/>
              </a:rPr>
              <a:t>›</a:t>
            </a:r>
          </a:p>
        </p:txBody>
      </p:sp>
      <p:sp>
        <p:nvSpPr>
          <p:cNvPr id="13" name="Rounded Rectangle 12"/>
          <p:cNvSpPr/>
          <p:nvPr/>
        </p:nvSpPr>
        <p:spPr>
          <a:xfrm>
            <a:off x="3392424" y="1965960"/>
            <a:ext cx="2615184" cy="16916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2424" y="1965960"/>
            <a:ext cx="2615184" cy="9144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92424" y="2194560"/>
            <a:ext cx="2615184" cy="548640"/>
          </a:xfrm>
          <a:prstGeom prst="rect">
            <a:avLst/>
          </a:prstGeom>
          <a:noFill/>
        </p:spPr>
        <p:txBody>
          <a:bodyPr wrap="square" anchor="t" lIns="36576" rIns="36576" tIns="0" bIns="0">
            <a:spAutoFit/>
          </a:bodyPr>
          <a:lstStyle/>
          <a:p>
            <a:pPr algn="ctr">
              <a:lnSpc>
                <a:spcPct val="112000"/>
              </a:lnSpc>
            </a:pPr>
            <a:r>
              <a:rPr sz="3000" b="1">
                <a:solidFill>
                  <a:srgbClr val="FF9933"/>
                </a:solidFill>
                <a:latin typeface="Calibri"/>
              </a:rPr>
              <a:t>2</a:t>
            </a:r>
          </a:p>
        </p:txBody>
      </p:sp>
      <p:sp>
        <p:nvSpPr>
          <p:cNvPr id="16" name="TextBox 15"/>
          <p:cNvSpPr txBox="1"/>
          <p:nvPr/>
        </p:nvSpPr>
        <p:spPr>
          <a:xfrm>
            <a:off x="3575304" y="2834640"/>
            <a:ext cx="2249424" cy="731520"/>
          </a:xfrm>
          <a:prstGeom prst="rect">
            <a:avLst/>
          </a:prstGeom>
          <a:noFill/>
        </p:spPr>
        <p:txBody>
          <a:bodyPr wrap="square" anchor="t" lIns="36576" rIns="36576" tIns="0" bIns="0">
            <a:spAutoFit/>
          </a:bodyPr>
          <a:lstStyle/>
          <a:p>
            <a:pPr algn="ctr">
              <a:lnSpc>
                <a:spcPct val="112000"/>
              </a:lnSpc>
            </a:pPr>
            <a:r>
              <a:rPr sz="1250" b="1">
                <a:solidFill>
                  <a:srgbClr val="141B2E"/>
                </a:solidFill>
                <a:latin typeface="Calibri"/>
              </a:rPr>
              <a:t>Instructed to cite only
official .gov.in / .nic.in</a:t>
            </a:r>
          </a:p>
        </p:txBody>
      </p:sp>
      <p:sp>
        <p:nvSpPr>
          <p:cNvPr id="17" name="TextBox 16"/>
          <p:cNvSpPr txBox="1"/>
          <p:nvPr/>
        </p:nvSpPr>
        <p:spPr>
          <a:xfrm>
            <a:off x="6007608" y="2651760"/>
            <a:ext cx="228600" cy="365760"/>
          </a:xfrm>
          <a:prstGeom prst="rect">
            <a:avLst/>
          </a:prstGeom>
          <a:noFill/>
        </p:spPr>
        <p:txBody>
          <a:bodyPr wrap="square" anchor="t" lIns="36576" rIns="36576" tIns="0" bIns="0">
            <a:spAutoFit/>
          </a:bodyPr>
          <a:lstStyle/>
          <a:p>
            <a:pPr algn="ctr">
              <a:lnSpc>
                <a:spcPct val="112000"/>
              </a:lnSpc>
            </a:pPr>
            <a:r>
              <a:rPr sz="2200" b="1">
                <a:solidFill>
                  <a:srgbClr val="5A647A"/>
                </a:solidFill>
                <a:latin typeface="Calibri"/>
              </a:rPr>
              <a:t>›</a:t>
            </a:r>
          </a:p>
        </p:txBody>
      </p:sp>
      <p:sp>
        <p:nvSpPr>
          <p:cNvPr id="18" name="Rounded Rectangle 17"/>
          <p:cNvSpPr/>
          <p:nvPr/>
        </p:nvSpPr>
        <p:spPr>
          <a:xfrm>
            <a:off x="6236208" y="1965960"/>
            <a:ext cx="2615184" cy="16916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8" y="1965960"/>
            <a:ext cx="2615184" cy="9144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6208" y="2194560"/>
            <a:ext cx="2615184" cy="548640"/>
          </a:xfrm>
          <a:prstGeom prst="rect">
            <a:avLst/>
          </a:prstGeom>
          <a:noFill/>
        </p:spPr>
        <p:txBody>
          <a:bodyPr wrap="square" anchor="t" lIns="36576" rIns="36576" tIns="0" bIns="0">
            <a:spAutoFit/>
          </a:bodyPr>
          <a:lstStyle/>
          <a:p>
            <a:pPr algn="ctr">
              <a:lnSpc>
                <a:spcPct val="112000"/>
              </a:lnSpc>
            </a:pPr>
            <a:r>
              <a:rPr sz="3000" b="1">
                <a:solidFill>
                  <a:srgbClr val="138808"/>
                </a:solidFill>
                <a:latin typeface="Calibri"/>
              </a:rPr>
              <a:t>3</a:t>
            </a:r>
          </a:p>
        </p:txBody>
      </p:sp>
      <p:sp>
        <p:nvSpPr>
          <p:cNvPr id="21" name="TextBox 20"/>
          <p:cNvSpPr txBox="1"/>
          <p:nvPr/>
        </p:nvSpPr>
        <p:spPr>
          <a:xfrm>
            <a:off x="6419088" y="2834640"/>
            <a:ext cx="2249424" cy="731520"/>
          </a:xfrm>
          <a:prstGeom prst="rect">
            <a:avLst/>
          </a:prstGeom>
          <a:noFill/>
        </p:spPr>
        <p:txBody>
          <a:bodyPr wrap="square" anchor="t" lIns="36576" rIns="36576" tIns="0" bIns="0">
            <a:spAutoFit/>
          </a:bodyPr>
          <a:lstStyle/>
          <a:p>
            <a:pPr algn="ctr">
              <a:lnSpc>
                <a:spcPct val="112000"/>
              </a:lnSpc>
            </a:pPr>
            <a:r>
              <a:rPr sz="1250" b="1">
                <a:solidFill>
                  <a:srgbClr val="141B2E"/>
                </a:solidFill>
                <a:latin typeface="Calibri"/>
              </a:rPr>
              <a:t>If ungrounded, down, or
no key → fallback:true</a:t>
            </a:r>
          </a:p>
        </p:txBody>
      </p:sp>
      <p:sp>
        <p:nvSpPr>
          <p:cNvPr id="22" name="TextBox 21"/>
          <p:cNvSpPr txBox="1"/>
          <p:nvPr/>
        </p:nvSpPr>
        <p:spPr>
          <a:xfrm>
            <a:off x="8851392" y="2651760"/>
            <a:ext cx="228600" cy="365760"/>
          </a:xfrm>
          <a:prstGeom prst="rect">
            <a:avLst/>
          </a:prstGeom>
          <a:noFill/>
        </p:spPr>
        <p:txBody>
          <a:bodyPr wrap="square" anchor="t" lIns="36576" rIns="36576" tIns="0" bIns="0">
            <a:spAutoFit/>
          </a:bodyPr>
          <a:lstStyle/>
          <a:p>
            <a:pPr algn="ctr">
              <a:lnSpc>
                <a:spcPct val="112000"/>
              </a:lnSpc>
            </a:pPr>
            <a:r>
              <a:rPr sz="2200" b="1">
                <a:solidFill>
                  <a:srgbClr val="5A647A"/>
                </a:solidFill>
                <a:latin typeface="Calibri"/>
              </a:rPr>
              <a:t>›</a:t>
            </a:r>
          </a:p>
        </p:txBody>
      </p:sp>
      <p:sp>
        <p:nvSpPr>
          <p:cNvPr id="23" name="Rounded Rectangle 22"/>
          <p:cNvSpPr/>
          <p:nvPr/>
        </p:nvSpPr>
        <p:spPr>
          <a:xfrm>
            <a:off x="9079992" y="1965960"/>
            <a:ext cx="2615184" cy="16916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79992" y="1965960"/>
            <a:ext cx="2615184" cy="914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79992" y="2194560"/>
            <a:ext cx="2615184" cy="548640"/>
          </a:xfrm>
          <a:prstGeom prst="rect">
            <a:avLst/>
          </a:prstGeom>
          <a:noFill/>
        </p:spPr>
        <p:txBody>
          <a:bodyPr wrap="square" anchor="t" lIns="36576" rIns="36576" tIns="0" bIns="0">
            <a:spAutoFit/>
          </a:bodyPr>
          <a:lstStyle/>
          <a:p>
            <a:pPr algn="ctr">
              <a:lnSpc>
                <a:spcPct val="112000"/>
              </a:lnSpc>
            </a:pPr>
            <a:r>
              <a:rPr sz="3000" b="1">
                <a:solidFill>
                  <a:srgbClr val="0B3D91"/>
                </a:solidFill>
                <a:latin typeface="Calibri"/>
              </a:rPr>
              <a:t>4</a:t>
            </a:r>
          </a:p>
        </p:txBody>
      </p:sp>
      <p:sp>
        <p:nvSpPr>
          <p:cNvPr id="26" name="TextBox 25"/>
          <p:cNvSpPr txBox="1"/>
          <p:nvPr/>
        </p:nvSpPr>
        <p:spPr>
          <a:xfrm>
            <a:off x="9262872" y="2834640"/>
            <a:ext cx="2249424" cy="731520"/>
          </a:xfrm>
          <a:prstGeom prst="rect">
            <a:avLst/>
          </a:prstGeom>
          <a:noFill/>
        </p:spPr>
        <p:txBody>
          <a:bodyPr wrap="square" anchor="t" lIns="36576" rIns="36576" tIns="0" bIns="0">
            <a:spAutoFit/>
          </a:bodyPr>
          <a:lstStyle/>
          <a:p>
            <a:pPr algn="ctr">
              <a:lnSpc>
                <a:spcPct val="112000"/>
              </a:lnSpc>
            </a:pPr>
            <a:r>
              <a:rPr sz="1250" b="1">
                <a:solidFill>
                  <a:srgbClr val="141B2E"/>
                </a:solidFill>
                <a:latin typeface="Calibri"/>
              </a:rPr>
              <a:t>Client answers from the
deterministic offline engine</a:t>
            </a:r>
          </a:p>
        </p:txBody>
      </p:sp>
      <p:sp>
        <p:nvSpPr>
          <p:cNvPr id="27" name="Rounded Rectangle 26"/>
          <p:cNvSpPr/>
          <p:nvPr/>
        </p:nvSpPr>
        <p:spPr>
          <a:xfrm>
            <a:off x="548640" y="3886200"/>
            <a:ext cx="11091672" cy="1874519"/>
          </a:xfrm>
          <a:prstGeom prst="roundRect">
            <a:avLst>
              <a:gd name="adj" fmla="val 7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069080"/>
            <a:ext cx="10515600" cy="1554480"/>
          </a:xfrm>
          <a:prstGeom prst="rect">
            <a:avLst/>
          </a:prstGeom>
          <a:noFill/>
        </p:spPr>
        <p:txBody>
          <a:bodyPr wrap="square" anchor="t" lIns="36576" rIns="36576" tIns="0" bIns="0">
            <a:spAutoFit/>
          </a:bodyPr>
          <a:lstStyle/>
          <a:p>
            <a:pPr algn="l">
              <a:lnSpc>
                <a:spcPct val="112000"/>
              </a:lnSpc>
            </a:pPr>
            <a:r>
              <a:rPr sz="1700" b="1">
                <a:solidFill>
                  <a:srgbClr val="0B3D91"/>
                </a:solidFill>
                <a:latin typeface="Calibri"/>
              </a:rPr>
              <a:t>The failure mode is “less rich”, never “wrong”</a:t>
            </a:r>
          </a:p>
          <a:p>
            <a:pPr algn="l">
              <a:lnSpc>
                <a:spcPct val="112000"/>
              </a:lnSpc>
              <a:spcBef>
                <a:spcPts val="800"/>
              </a:spcBef>
            </a:pPr>
            <a:r>
              <a:rPr sz="1350" b="0">
                <a:solidFill>
                  <a:srgbClr val="141B2E"/>
                </a:solidFill>
                <a:latin typeface="Calibri"/>
              </a:rPr>
              <a:t>A citizen can never be shown a fabricated scheme, a wrong amount, or a fake URL.</a:t>
            </a:r>
          </a:p>
          <a:p>
            <a:pPr algn="l">
              <a:lnSpc>
                <a:spcPct val="112000"/>
              </a:lnSpc>
              <a:spcBef>
                <a:spcPts val="800"/>
              </a:spcBef>
            </a:pPr>
            <a:r>
              <a:rPr sz="1300" b="1">
                <a:solidFill>
                  <a:srgbClr val="138808"/>
                </a:solidFill>
                <a:latin typeface="Calibri"/>
              </a:rPr>
              <a:t>Verified in production: the live API currently returns  { ok:false, fallback:true }  — and every feature still works.</a:t>
            </a:r>
          </a:p>
          <a:p>
            <a:pPr algn="l">
              <a:lnSpc>
                <a:spcPct val="112000"/>
              </a:lnSpc>
              <a:spcBef>
                <a:spcPts val="800"/>
              </a:spcBef>
            </a:pPr>
            <a:r>
              <a:rPr sz="1250" b="0">
                <a:solidFill>
                  <a:srgbClr val="5A647A"/>
                </a:solidFill>
                <a:latin typeface="Calibri"/>
              </a:rPr>
              <a:t>Provider-agnostic: any OpenAI-compatible endpoint, model configurable via AI_MODEL / AI_MODEL_FALLBACK.</a:t>
            </a:r>
          </a:p>
        </p:txBody>
      </p:sp>
      <p:sp>
        <p:nvSpPr>
          <p:cNvPr id="29" name="TextBox 28"/>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INNOVATION 3</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Offline-first — designed for the network we actually have</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7</a:t>
            </a:r>
          </a:p>
        </p:txBody>
      </p:sp>
      <p:sp>
        <p:nvSpPr>
          <p:cNvPr id="7" name="TextBox 6"/>
          <p:cNvSpPr txBox="1"/>
          <p:nvPr/>
        </p:nvSpPr>
        <p:spPr>
          <a:xfrm>
            <a:off x="548640" y="1298448"/>
            <a:ext cx="11064240" cy="457200"/>
          </a:xfrm>
          <a:prstGeom prst="rect">
            <a:avLst/>
          </a:prstGeom>
          <a:noFill/>
        </p:spPr>
        <p:txBody>
          <a:bodyPr wrap="square" anchor="t" lIns="36576" rIns="36576" tIns="0" bIns="0">
            <a:spAutoFit/>
          </a:bodyPr>
          <a:lstStyle/>
          <a:p>
            <a:pPr algn="l">
              <a:lnSpc>
                <a:spcPct val="112000"/>
              </a:lnSpc>
            </a:pPr>
            <a:r>
              <a:rPr sz="1500" b="0">
                <a:solidFill>
                  <a:srgbClr val="5A647A"/>
                </a:solidFill>
                <a:latin typeface="Calibri"/>
              </a:rPr>
              <a:t>All eligibility, document, letter and fraud logic ships as static JavaScript and is cached by a service worker.</a:t>
            </a:r>
          </a:p>
        </p:txBody>
      </p:sp>
      <p:sp>
        <p:nvSpPr>
          <p:cNvPr id="8" name="Rounded Rectangle 7"/>
          <p:cNvSpPr/>
          <p:nvPr/>
        </p:nvSpPr>
        <p:spPr>
          <a:xfrm>
            <a:off x="548640" y="1920240"/>
            <a:ext cx="3602736" cy="192024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0240"/>
            <a:ext cx="64008" cy="192024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 y="2066544"/>
            <a:ext cx="3191256"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 Runs with no network</a:t>
            </a:r>
          </a:p>
        </p:txBody>
      </p:sp>
      <p:sp>
        <p:nvSpPr>
          <p:cNvPr id="11" name="TextBox 10"/>
          <p:cNvSpPr txBox="1"/>
          <p:nvPr/>
        </p:nvSpPr>
        <p:spPr>
          <a:xfrm>
            <a:off x="768096" y="2487168"/>
            <a:ext cx="3191256" cy="1188720"/>
          </a:xfrm>
          <a:prstGeom prst="rect">
            <a:avLst/>
          </a:prstGeom>
          <a:noFill/>
        </p:spPr>
        <p:txBody>
          <a:bodyPr wrap="square" anchor="t" lIns="36576" rIns="36576" tIns="0" bIns="0">
            <a:spAutoFit/>
          </a:bodyPr>
          <a:lstStyle/>
          <a:p>
            <a:pPr algn="l">
              <a:lnSpc>
                <a:spcPct val="112000"/>
              </a:lnSpc>
            </a:pPr>
            <a:r>
              <a:rPr sz="1250" b="0">
                <a:solidFill>
                  <a:srgbClr val="141B2E"/>
                </a:solidFill>
                <a:latin typeface="Calibri"/>
              </a:rPr>
              <a:t>•  Eligibility engine on-device</a:t>
            </a:r>
          </a:p>
          <a:p>
            <a:pPr algn="l">
              <a:lnSpc>
                <a:spcPct val="112000"/>
              </a:lnSpc>
            </a:pPr>
            <a:r>
              <a:rPr sz="1250" b="0">
                <a:solidFill>
                  <a:srgbClr val="141B2E"/>
                </a:solidFill>
                <a:latin typeface="Calibri"/>
              </a:rPr>
              <a:t>•  Document guides on-device</a:t>
            </a:r>
          </a:p>
          <a:p>
            <a:pPr algn="l">
              <a:lnSpc>
                <a:spcPct val="112000"/>
              </a:lnSpc>
            </a:pPr>
            <a:r>
              <a:rPr sz="1250" b="0">
                <a:solidFill>
                  <a:srgbClr val="141B2E"/>
                </a:solidFill>
                <a:latin typeface="Calibri"/>
              </a:rPr>
              <a:t>•  Letter templates on-device</a:t>
            </a:r>
          </a:p>
          <a:p>
            <a:pPr algn="l">
              <a:lnSpc>
                <a:spcPct val="112000"/>
              </a:lnSpc>
            </a:pPr>
            <a:r>
              <a:rPr sz="1250" b="0">
                <a:solidFill>
                  <a:srgbClr val="141B2E"/>
                </a:solidFill>
                <a:latin typeface="Calibri"/>
              </a:rPr>
              <a:t>•  Fraud rules on-device</a:t>
            </a:r>
          </a:p>
        </p:txBody>
      </p:sp>
      <p:sp>
        <p:nvSpPr>
          <p:cNvPr id="12" name="Rounded Rectangle 11"/>
          <p:cNvSpPr/>
          <p:nvPr/>
        </p:nvSpPr>
        <p:spPr>
          <a:xfrm>
            <a:off x="4297680" y="1920240"/>
            <a:ext cx="3602736" cy="192024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920240"/>
            <a:ext cx="64008" cy="192024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2066544"/>
            <a:ext cx="3191256"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 Fast on a low-end phone</a:t>
            </a:r>
          </a:p>
        </p:txBody>
      </p:sp>
      <p:sp>
        <p:nvSpPr>
          <p:cNvPr id="15" name="TextBox 14"/>
          <p:cNvSpPr txBox="1"/>
          <p:nvPr/>
        </p:nvSpPr>
        <p:spPr>
          <a:xfrm>
            <a:off x="4517136" y="2487168"/>
            <a:ext cx="3191256" cy="1188720"/>
          </a:xfrm>
          <a:prstGeom prst="rect">
            <a:avLst/>
          </a:prstGeom>
          <a:noFill/>
        </p:spPr>
        <p:txBody>
          <a:bodyPr wrap="square" anchor="t" lIns="36576" rIns="36576" tIns="0" bIns="0">
            <a:spAutoFit/>
          </a:bodyPr>
          <a:lstStyle/>
          <a:p>
            <a:pPr algn="l">
              <a:lnSpc>
                <a:spcPct val="112000"/>
              </a:lnSpc>
            </a:pPr>
            <a:r>
              <a:rPr sz="1250" b="0">
                <a:solidFill>
                  <a:srgbClr val="141B2E"/>
                </a:solidFill>
                <a:latin typeface="Calibri"/>
              </a:rPr>
              <a:t>•  No framework, no bundler</a:t>
            </a:r>
          </a:p>
          <a:p>
            <a:pPr algn="l">
              <a:lnSpc>
                <a:spcPct val="112000"/>
              </a:lnSpc>
            </a:pPr>
            <a:r>
              <a:rPr sz="1250" b="0">
                <a:solidFill>
                  <a:srgbClr val="141B2E"/>
                </a:solidFill>
                <a:latin typeface="Calibri"/>
              </a:rPr>
              <a:t>•  Semantic HTML + vanilla JS</a:t>
            </a:r>
          </a:p>
          <a:p>
            <a:pPr algn="l">
              <a:lnSpc>
                <a:spcPct val="112000"/>
              </a:lnSpc>
            </a:pPr>
            <a:r>
              <a:rPr sz="1250" b="0">
                <a:solidFill>
                  <a:srgbClr val="141B2E"/>
                </a:solidFill>
                <a:latin typeface="Calibri"/>
              </a:rPr>
              <a:t>•  ~330 KB total static payload</a:t>
            </a:r>
          </a:p>
          <a:p>
            <a:pPr algn="l">
              <a:lnSpc>
                <a:spcPct val="112000"/>
              </a:lnSpc>
            </a:pPr>
            <a:r>
              <a:rPr sz="1250" b="0">
                <a:solidFill>
                  <a:srgbClr val="141B2E"/>
                </a:solidFill>
                <a:latin typeface="Calibri"/>
              </a:rPr>
              <a:t>•  Installs as a PWA</a:t>
            </a:r>
          </a:p>
        </p:txBody>
      </p:sp>
      <p:sp>
        <p:nvSpPr>
          <p:cNvPr id="16" name="Rounded Rectangle 15"/>
          <p:cNvSpPr/>
          <p:nvPr/>
        </p:nvSpPr>
        <p:spPr>
          <a:xfrm>
            <a:off x="8046720" y="1920240"/>
            <a:ext cx="3602736" cy="192024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920240"/>
            <a:ext cx="64008" cy="1920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66176" y="2066544"/>
            <a:ext cx="3191256"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 Speaks the citizen's language</a:t>
            </a:r>
          </a:p>
        </p:txBody>
      </p:sp>
      <p:sp>
        <p:nvSpPr>
          <p:cNvPr id="19" name="TextBox 18"/>
          <p:cNvSpPr txBox="1"/>
          <p:nvPr/>
        </p:nvSpPr>
        <p:spPr>
          <a:xfrm>
            <a:off x="8266176" y="2487168"/>
            <a:ext cx="3191256" cy="1188720"/>
          </a:xfrm>
          <a:prstGeom prst="rect">
            <a:avLst/>
          </a:prstGeom>
          <a:noFill/>
        </p:spPr>
        <p:txBody>
          <a:bodyPr wrap="square" anchor="t" lIns="36576" rIns="36576" tIns="0" bIns="0">
            <a:spAutoFit/>
          </a:bodyPr>
          <a:lstStyle/>
          <a:p>
            <a:pPr algn="l">
              <a:lnSpc>
                <a:spcPct val="112000"/>
              </a:lnSpc>
            </a:pPr>
            <a:r>
              <a:rPr sz="1250" b="0">
                <a:solidFill>
                  <a:srgbClr val="141B2E"/>
                </a:solidFill>
                <a:latin typeface="Calibri"/>
              </a:rPr>
              <a:t>•  13 languages incl. RTL Urdu</a:t>
            </a:r>
          </a:p>
          <a:p>
            <a:pPr algn="l">
              <a:lnSpc>
                <a:spcPct val="112000"/>
              </a:lnSpc>
            </a:pPr>
            <a:r>
              <a:rPr sz="1250" b="0">
                <a:solidFill>
                  <a:srgbClr val="141B2E"/>
                </a:solidFill>
                <a:latin typeface="Calibri"/>
              </a:rPr>
              <a:t>•  Voice in and out (Web Speech)</a:t>
            </a:r>
          </a:p>
          <a:p>
            <a:pPr algn="l">
              <a:lnSpc>
                <a:spcPct val="112000"/>
              </a:lnSpc>
            </a:pPr>
            <a:r>
              <a:rPr sz="1250" b="0">
                <a:solidFill>
                  <a:srgbClr val="141B2E"/>
                </a:solidFill>
                <a:latin typeface="Calibri"/>
              </a:rPr>
              <a:t>•  Font scaling to 140%</a:t>
            </a:r>
          </a:p>
          <a:p>
            <a:pPr algn="l">
              <a:lnSpc>
                <a:spcPct val="112000"/>
              </a:lnSpc>
            </a:pPr>
            <a:r>
              <a:rPr sz="1250" b="0">
                <a:solidFill>
                  <a:srgbClr val="141B2E"/>
                </a:solidFill>
                <a:latin typeface="Calibri"/>
              </a:rPr>
              <a:t>•  High-contrast + Simple Mode</a:t>
            </a:r>
          </a:p>
        </p:txBody>
      </p:sp>
      <p:sp>
        <p:nvSpPr>
          <p:cNvPr id="20" name="Rounded Rectangle 19"/>
          <p:cNvSpPr/>
          <p:nvPr/>
        </p:nvSpPr>
        <p:spPr>
          <a:xfrm>
            <a:off x="548640" y="4069080"/>
            <a:ext cx="11091672" cy="1691640"/>
          </a:xfrm>
          <a:prstGeom prst="roundRect">
            <a:avLst>
              <a:gd name="adj" fmla="val 7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97680"/>
            <a:ext cx="10515600" cy="1280160"/>
          </a:xfrm>
          <a:prstGeom prst="rect">
            <a:avLst/>
          </a:prstGeom>
          <a:noFill/>
        </p:spPr>
        <p:txBody>
          <a:bodyPr wrap="square" anchor="t" lIns="36576" rIns="36576" tIns="0" bIns="0">
            <a:spAutoFit/>
          </a:bodyPr>
          <a:lstStyle/>
          <a:p>
            <a:pPr algn="l">
              <a:lnSpc>
                <a:spcPct val="112000"/>
              </a:lnSpc>
            </a:pPr>
            <a:r>
              <a:rPr sz="1700" b="1">
                <a:solidFill>
                  <a:srgbClr val="FFFFFF"/>
                </a:solidFill>
                <a:latin typeface="Calibri"/>
              </a:rPr>
              <a:t>Why this is the single most important decision</a:t>
            </a:r>
          </a:p>
          <a:p>
            <a:pPr algn="l">
              <a:lnSpc>
                <a:spcPct val="112000"/>
              </a:lnSpc>
              <a:spcBef>
                <a:spcPts val="800"/>
              </a:spcBef>
            </a:pPr>
            <a:r>
              <a:rPr sz="1350" b="0">
                <a:solidFill>
                  <a:srgbClr val="E6ECFA"/>
                </a:solidFill>
                <a:latin typeface="Calibri"/>
              </a:rPr>
              <a:t>The citizens who need welfare most are the ones with the worst connectivity.</a:t>
            </a:r>
          </a:p>
          <a:p>
            <a:pPr algn="l">
              <a:lnSpc>
                <a:spcPct val="112000"/>
              </a:lnSpc>
              <a:spcBef>
                <a:spcPts val="600"/>
              </a:spcBef>
            </a:pPr>
            <a:r>
              <a:rPr sz="1350" b="0">
                <a:solidFill>
                  <a:srgbClr val="E6ECFA"/>
                </a:solidFill>
                <a:latin typeface="Calibri"/>
              </a:rPr>
              <a:t>A tool that needs a good network to work is a tool that fails exactly where it is needed.</a:t>
            </a:r>
          </a:p>
        </p:txBody>
      </p:sp>
      <p:sp>
        <p:nvSpPr>
          <p:cNvPr id="22" name="TextBox 21"/>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LIVE DEMO</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The 60-second walkthrough</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8</a:t>
            </a:r>
          </a:p>
        </p:txBody>
      </p:sp>
      <p:sp>
        <p:nvSpPr>
          <p:cNvPr id="7" name="Rounded Rectangle 6"/>
          <p:cNvSpPr/>
          <p:nvPr/>
        </p:nvSpPr>
        <p:spPr>
          <a:xfrm>
            <a:off x="548640" y="1737360"/>
            <a:ext cx="5349240" cy="10058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94944" y="1920240"/>
            <a:ext cx="566928" cy="566928"/>
          </a:xfrm>
          <a:prstGeom prst="roundRect">
            <a:avLst>
              <a:gd name="adj" fmla="val 3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2002536"/>
            <a:ext cx="566928" cy="457200"/>
          </a:xfrm>
          <a:prstGeom prst="rect">
            <a:avLst/>
          </a:prstGeom>
          <a:noFill/>
        </p:spPr>
        <p:txBody>
          <a:bodyPr wrap="square" anchor="t" lIns="36576" rIns="36576" tIns="0" bIns="0">
            <a:spAutoFit/>
          </a:bodyPr>
          <a:lstStyle/>
          <a:p>
            <a:pPr algn="ctr">
              <a:lnSpc>
                <a:spcPct val="112000"/>
              </a:lnSpc>
            </a:pPr>
            <a:r>
              <a:rPr sz="2000" b="1">
                <a:solidFill>
                  <a:srgbClr val="FFFFFF"/>
                </a:solidFill>
                <a:latin typeface="Calibri"/>
              </a:rPr>
              <a:t>1</a:t>
            </a:r>
          </a:p>
        </p:txBody>
      </p:sp>
      <p:sp>
        <p:nvSpPr>
          <p:cNvPr id="10" name="TextBox 9"/>
          <p:cNvSpPr txBox="1"/>
          <p:nvPr/>
        </p:nvSpPr>
        <p:spPr>
          <a:xfrm>
            <a:off x="1417320" y="1874520"/>
            <a:ext cx="434340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Open the live URL</a:t>
            </a:r>
          </a:p>
        </p:txBody>
      </p:sp>
      <p:sp>
        <p:nvSpPr>
          <p:cNvPr id="11" name="TextBox 10"/>
          <p:cNvSpPr txBox="1"/>
          <p:nvPr/>
        </p:nvSpPr>
        <p:spPr>
          <a:xfrm>
            <a:off x="1417320" y="2249424"/>
            <a:ext cx="434340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No signup, no install required</a:t>
            </a:r>
          </a:p>
        </p:txBody>
      </p:sp>
      <p:sp>
        <p:nvSpPr>
          <p:cNvPr id="12" name="Rounded Rectangle 11"/>
          <p:cNvSpPr/>
          <p:nvPr/>
        </p:nvSpPr>
        <p:spPr>
          <a:xfrm>
            <a:off x="6172200" y="1737360"/>
            <a:ext cx="5349240" cy="10058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18504" y="1920240"/>
            <a:ext cx="566928" cy="566928"/>
          </a:xfrm>
          <a:prstGeom prst="roundRect">
            <a:avLst>
              <a:gd name="adj" fmla="val 3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002536"/>
            <a:ext cx="566928" cy="457200"/>
          </a:xfrm>
          <a:prstGeom prst="rect">
            <a:avLst/>
          </a:prstGeom>
          <a:noFill/>
        </p:spPr>
        <p:txBody>
          <a:bodyPr wrap="square" anchor="t" lIns="36576" rIns="36576" tIns="0" bIns="0">
            <a:spAutoFit/>
          </a:bodyPr>
          <a:lstStyle/>
          <a:p>
            <a:pPr algn="ctr">
              <a:lnSpc>
                <a:spcPct val="112000"/>
              </a:lnSpc>
            </a:pPr>
            <a:r>
              <a:rPr sz="2000" b="1">
                <a:solidFill>
                  <a:srgbClr val="FFFFFF"/>
                </a:solidFill>
                <a:latin typeface="Calibri"/>
              </a:rPr>
              <a:t>2</a:t>
            </a:r>
          </a:p>
        </p:txBody>
      </p:sp>
      <p:sp>
        <p:nvSpPr>
          <p:cNvPr id="15" name="TextBox 14"/>
          <p:cNvSpPr txBox="1"/>
          <p:nvPr/>
        </p:nvSpPr>
        <p:spPr>
          <a:xfrm>
            <a:off x="7040880" y="1874520"/>
            <a:ext cx="434340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Tap the sample profile</a:t>
            </a:r>
          </a:p>
        </p:txBody>
      </p:sp>
      <p:sp>
        <p:nvSpPr>
          <p:cNvPr id="16" name="TextBox 15"/>
          <p:cNvSpPr txBox="1"/>
          <p:nvPr/>
        </p:nvSpPr>
        <p:spPr>
          <a:xfrm>
            <a:off x="7040880" y="2249424"/>
            <a:ext cx="434340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One tap fills a realistic rural household</a:t>
            </a:r>
          </a:p>
        </p:txBody>
      </p:sp>
      <p:sp>
        <p:nvSpPr>
          <p:cNvPr id="17" name="Rounded Rectangle 16"/>
          <p:cNvSpPr/>
          <p:nvPr/>
        </p:nvSpPr>
        <p:spPr>
          <a:xfrm>
            <a:off x="548640" y="2907792"/>
            <a:ext cx="5349240" cy="10058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94944" y="3090672"/>
            <a:ext cx="566928" cy="566928"/>
          </a:xfrm>
          <a:prstGeom prst="roundRect">
            <a:avLst>
              <a:gd name="adj" fmla="val 3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3172968"/>
            <a:ext cx="566928" cy="457200"/>
          </a:xfrm>
          <a:prstGeom prst="rect">
            <a:avLst/>
          </a:prstGeom>
          <a:noFill/>
        </p:spPr>
        <p:txBody>
          <a:bodyPr wrap="square" anchor="t" lIns="36576" rIns="36576" tIns="0" bIns="0">
            <a:spAutoFit/>
          </a:bodyPr>
          <a:lstStyle/>
          <a:p>
            <a:pPr algn="ctr">
              <a:lnSpc>
                <a:spcPct val="112000"/>
              </a:lnSpc>
            </a:pPr>
            <a:r>
              <a:rPr sz="2000" b="1">
                <a:solidFill>
                  <a:srgbClr val="FFFFFF"/>
                </a:solidFill>
                <a:latin typeface="Calibri"/>
              </a:rPr>
              <a:t>3</a:t>
            </a:r>
          </a:p>
        </p:txBody>
      </p:sp>
      <p:sp>
        <p:nvSpPr>
          <p:cNvPr id="20" name="TextBox 19"/>
          <p:cNvSpPr txBox="1"/>
          <p:nvPr/>
        </p:nvSpPr>
        <p:spPr>
          <a:xfrm>
            <a:off x="1417320" y="3044952"/>
            <a:ext cx="434340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Read the ranked matches</a:t>
            </a:r>
          </a:p>
        </p:txBody>
      </p:sp>
      <p:sp>
        <p:nvSpPr>
          <p:cNvPr id="21" name="TextBox 20"/>
          <p:cNvSpPr txBox="1"/>
          <p:nvPr/>
        </p:nvSpPr>
        <p:spPr>
          <a:xfrm>
            <a:off x="1417320" y="3419856"/>
            <a:ext cx="434340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Each card shows WHY you qualify</a:t>
            </a:r>
          </a:p>
        </p:txBody>
      </p:sp>
      <p:sp>
        <p:nvSpPr>
          <p:cNvPr id="22" name="Rounded Rectangle 21"/>
          <p:cNvSpPr/>
          <p:nvPr/>
        </p:nvSpPr>
        <p:spPr>
          <a:xfrm>
            <a:off x="6172200" y="2907792"/>
            <a:ext cx="5349240" cy="10058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318504" y="3090672"/>
            <a:ext cx="566928" cy="566928"/>
          </a:xfrm>
          <a:prstGeom prst="roundRect">
            <a:avLst>
              <a:gd name="adj" fmla="val 3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18504" y="3172968"/>
            <a:ext cx="566928" cy="457200"/>
          </a:xfrm>
          <a:prstGeom prst="rect">
            <a:avLst/>
          </a:prstGeom>
          <a:noFill/>
        </p:spPr>
        <p:txBody>
          <a:bodyPr wrap="square" anchor="t" lIns="36576" rIns="36576" tIns="0" bIns="0">
            <a:spAutoFit/>
          </a:bodyPr>
          <a:lstStyle/>
          <a:p>
            <a:pPr algn="ctr">
              <a:lnSpc>
                <a:spcPct val="112000"/>
              </a:lnSpc>
            </a:pPr>
            <a:r>
              <a:rPr sz="2000" b="1">
                <a:solidFill>
                  <a:srgbClr val="FFFFFF"/>
                </a:solidFill>
                <a:latin typeface="Calibri"/>
              </a:rPr>
              <a:t>4</a:t>
            </a:r>
          </a:p>
        </p:txBody>
      </p:sp>
      <p:sp>
        <p:nvSpPr>
          <p:cNvPr id="25" name="TextBox 24"/>
          <p:cNvSpPr txBox="1"/>
          <p:nvPr/>
        </p:nvSpPr>
        <p:spPr>
          <a:xfrm>
            <a:off x="7040880" y="3044952"/>
            <a:ext cx="434340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Open My Plan</a:t>
            </a:r>
          </a:p>
        </p:txBody>
      </p:sp>
      <p:sp>
        <p:nvSpPr>
          <p:cNvPr id="26" name="TextBox 25"/>
          <p:cNvSpPr txBox="1"/>
          <p:nvPr/>
        </p:nvSpPr>
        <p:spPr>
          <a:xfrm>
            <a:off x="7040880" y="3419856"/>
            <a:ext cx="434340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 estimated annual value + document bar</a:t>
            </a:r>
          </a:p>
        </p:txBody>
      </p:sp>
      <p:sp>
        <p:nvSpPr>
          <p:cNvPr id="27" name="Rounded Rectangle 26"/>
          <p:cNvSpPr/>
          <p:nvPr/>
        </p:nvSpPr>
        <p:spPr>
          <a:xfrm>
            <a:off x="548640" y="4078224"/>
            <a:ext cx="5349240" cy="10058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94944" y="4261104"/>
            <a:ext cx="566928" cy="566928"/>
          </a:xfrm>
          <a:prstGeom prst="roundRect">
            <a:avLst>
              <a:gd name="adj" fmla="val 3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 y="4343400"/>
            <a:ext cx="566928" cy="457200"/>
          </a:xfrm>
          <a:prstGeom prst="rect">
            <a:avLst/>
          </a:prstGeom>
          <a:noFill/>
        </p:spPr>
        <p:txBody>
          <a:bodyPr wrap="square" anchor="t" lIns="36576" rIns="36576" tIns="0" bIns="0">
            <a:spAutoFit/>
          </a:bodyPr>
          <a:lstStyle/>
          <a:p>
            <a:pPr algn="ctr">
              <a:lnSpc>
                <a:spcPct val="112000"/>
              </a:lnSpc>
            </a:pPr>
            <a:r>
              <a:rPr sz="2000" b="1">
                <a:solidFill>
                  <a:srgbClr val="FFFFFF"/>
                </a:solidFill>
                <a:latin typeface="Calibri"/>
              </a:rPr>
              <a:t>5</a:t>
            </a:r>
          </a:p>
        </p:txBody>
      </p:sp>
      <p:sp>
        <p:nvSpPr>
          <p:cNvPr id="30" name="TextBox 29"/>
          <p:cNvSpPr txBox="1"/>
          <p:nvPr/>
        </p:nvSpPr>
        <p:spPr>
          <a:xfrm>
            <a:off x="1417320" y="4215384"/>
            <a:ext cx="434340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Check documents</a:t>
            </a:r>
          </a:p>
        </p:txBody>
      </p:sp>
      <p:sp>
        <p:nvSpPr>
          <p:cNvPr id="31" name="TextBox 30"/>
          <p:cNvSpPr txBox="1"/>
          <p:nvPr/>
        </p:nvSpPr>
        <p:spPr>
          <a:xfrm>
            <a:off x="1417320" y="4590288"/>
            <a:ext cx="434340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Missing docs → issuing office + timeline</a:t>
            </a:r>
          </a:p>
        </p:txBody>
      </p:sp>
      <p:sp>
        <p:nvSpPr>
          <p:cNvPr id="32" name="Rounded Rectangle 31"/>
          <p:cNvSpPr/>
          <p:nvPr/>
        </p:nvSpPr>
        <p:spPr>
          <a:xfrm>
            <a:off x="6172200" y="4078224"/>
            <a:ext cx="5349240" cy="10058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318504" y="4261104"/>
            <a:ext cx="566928" cy="566928"/>
          </a:xfrm>
          <a:prstGeom prst="roundRect">
            <a:avLst>
              <a:gd name="adj" fmla="val 3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18504" y="4343400"/>
            <a:ext cx="566928" cy="457200"/>
          </a:xfrm>
          <a:prstGeom prst="rect">
            <a:avLst/>
          </a:prstGeom>
          <a:noFill/>
        </p:spPr>
        <p:txBody>
          <a:bodyPr wrap="square" anchor="t" lIns="36576" rIns="36576" tIns="0" bIns="0">
            <a:spAutoFit/>
          </a:bodyPr>
          <a:lstStyle/>
          <a:p>
            <a:pPr algn="ctr">
              <a:lnSpc>
                <a:spcPct val="112000"/>
              </a:lnSpc>
            </a:pPr>
            <a:r>
              <a:rPr sz="2000" b="1">
                <a:solidFill>
                  <a:srgbClr val="FFFFFF"/>
                </a:solidFill>
                <a:latin typeface="Calibri"/>
              </a:rPr>
              <a:t>6</a:t>
            </a:r>
          </a:p>
        </p:txBody>
      </p:sp>
      <p:sp>
        <p:nvSpPr>
          <p:cNvPr id="35" name="TextBox 34"/>
          <p:cNvSpPr txBox="1"/>
          <p:nvPr/>
        </p:nvSpPr>
        <p:spPr>
          <a:xfrm>
            <a:off x="7040880" y="4215384"/>
            <a:ext cx="434340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Generate an RTI letter</a:t>
            </a:r>
          </a:p>
        </p:txBody>
      </p:sp>
      <p:sp>
        <p:nvSpPr>
          <p:cNvPr id="36" name="TextBox 35"/>
          <p:cNvSpPr txBox="1"/>
          <p:nvPr/>
        </p:nvSpPr>
        <p:spPr>
          <a:xfrm>
            <a:off x="7040880" y="4590288"/>
            <a:ext cx="434340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Legally-shaped, printable today</a:t>
            </a:r>
          </a:p>
        </p:txBody>
      </p:sp>
      <p:sp>
        <p:nvSpPr>
          <p:cNvPr id="37" name="Rounded Rectangle 36"/>
          <p:cNvSpPr/>
          <p:nvPr/>
        </p:nvSpPr>
        <p:spPr>
          <a:xfrm>
            <a:off x="548640" y="5248656"/>
            <a:ext cx="5349240" cy="100584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4944" y="5431536"/>
            <a:ext cx="566928" cy="566928"/>
          </a:xfrm>
          <a:prstGeom prst="roundRect">
            <a:avLst>
              <a:gd name="adj" fmla="val 30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5513832"/>
            <a:ext cx="566928" cy="457200"/>
          </a:xfrm>
          <a:prstGeom prst="rect">
            <a:avLst/>
          </a:prstGeom>
          <a:noFill/>
        </p:spPr>
        <p:txBody>
          <a:bodyPr wrap="square" anchor="t" lIns="36576" rIns="36576" tIns="0" bIns="0">
            <a:spAutoFit/>
          </a:bodyPr>
          <a:lstStyle/>
          <a:p>
            <a:pPr algn="ctr">
              <a:lnSpc>
                <a:spcPct val="112000"/>
              </a:lnSpc>
            </a:pPr>
            <a:r>
              <a:rPr sz="2000" b="1">
                <a:solidFill>
                  <a:srgbClr val="FFFFFF"/>
                </a:solidFill>
                <a:latin typeface="Calibri"/>
              </a:rPr>
              <a:t>7</a:t>
            </a:r>
          </a:p>
        </p:txBody>
      </p:sp>
      <p:sp>
        <p:nvSpPr>
          <p:cNvPr id="40" name="TextBox 39"/>
          <p:cNvSpPr txBox="1"/>
          <p:nvPr/>
        </p:nvSpPr>
        <p:spPr>
          <a:xfrm>
            <a:off x="1417320" y="5385816"/>
            <a:ext cx="434340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Paste a scam SMS</a:t>
            </a:r>
          </a:p>
        </p:txBody>
      </p:sp>
      <p:sp>
        <p:nvSpPr>
          <p:cNvPr id="41" name="TextBox 40"/>
          <p:cNvSpPr txBox="1"/>
          <p:nvPr/>
        </p:nvSpPr>
        <p:spPr>
          <a:xfrm>
            <a:off x="1417320" y="5760720"/>
            <a:ext cx="434340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Fraud Shield: risk /100 + exact actions</a:t>
            </a:r>
          </a:p>
        </p:txBody>
      </p:sp>
      <p:sp>
        <p:nvSpPr>
          <p:cNvPr id="42" name="Rounded Rectangle 41"/>
          <p:cNvSpPr/>
          <p:nvPr/>
        </p:nvSpPr>
        <p:spPr>
          <a:xfrm>
            <a:off x="548640" y="5577840"/>
            <a:ext cx="11091672" cy="566928"/>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632704"/>
            <a:ext cx="11091672" cy="566928"/>
          </a:xfrm>
          <a:prstGeom prst="rect">
            <a:avLst/>
          </a:prstGeom>
          <a:noFill/>
        </p:spPr>
        <p:txBody>
          <a:bodyPr wrap="square" anchor="ctr" lIns="36576" rIns="36576" tIns="0" bIns="0">
            <a:spAutoFit/>
          </a:bodyPr>
          <a:lstStyle/>
          <a:p>
            <a:pPr algn="ctr">
              <a:lnSpc>
                <a:spcPct val="112000"/>
              </a:lnSpc>
            </a:pPr>
            <a:r>
              <a:rPr sz="1500" b="1">
                <a:solidFill>
                  <a:srgbClr val="0B3D91"/>
                </a:solidFill>
                <a:latin typeface="Calibri"/>
              </a:rPr>
              <a:t>🔗  https://webapp-kohl-six-95.vercel.app</a:t>
            </a:r>
          </a:p>
        </p:txBody>
      </p:sp>
      <p:sp>
        <p:nvSpPr>
          <p:cNvPr id="44" name="TextBox 43"/>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ARCHITECTURE</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Zero build step · one serverless function</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9</a:t>
            </a:r>
          </a:p>
        </p:txBody>
      </p:sp>
      <p:sp>
        <p:nvSpPr>
          <p:cNvPr id="7" name="Rounded Rectangle 6"/>
          <p:cNvSpPr/>
          <p:nvPr/>
        </p:nvSpPr>
        <p:spPr>
          <a:xfrm>
            <a:off x="548640" y="1783080"/>
            <a:ext cx="3529584" cy="338328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83080"/>
            <a:ext cx="3529584" cy="685800"/>
          </a:xfrm>
          <a:prstGeom prst="roundRect">
            <a:avLst>
              <a:gd name="adj" fmla="val 12000"/>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240280"/>
            <a:ext cx="3529584" cy="22860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74519"/>
            <a:ext cx="3200400" cy="274320"/>
          </a:xfrm>
          <a:prstGeom prst="rect">
            <a:avLst/>
          </a:prstGeom>
          <a:noFill/>
        </p:spPr>
        <p:txBody>
          <a:bodyPr wrap="square" anchor="t" lIns="36576" rIns="36576" tIns="0" bIns="0">
            <a:spAutoFit/>
          </a:bodyPr>
          <a:lstStyle/>
          <a:p>
            <a:pPr algn="l">
              <a:lnSpc>
                <a:spcPct val="112000"/>
              </a:lnSpc>
            </a:pPr>
            <a:r>
              <a:rPr sz="1450" b="1">
                <a:solidFill>
                  <a:srgbClr val="FFFFFF"/>
                </a:solidFill>
                <a:latin typeface="Calibri"/>
              </a:rPr>
              <a:t>Citizen device</a:t>
            </a:r>
          </a:p>
        </p:txBody>
      </p:sp>
      <p:sp>
        <p:nvSpPr>
          <p:cNvPr id="11" name="TextBox 10"/>
          <p:cNvSpPr txBox="1"/>
          <p:nvPr/>
        </p:nvSpPr>
        <p:spPr>
          <a:xfrm>
            <a:off x="731520" y="2148840"/>
            <a:ext cx="3200400" cy="274320"/>
          </a:xfrm>
          <a:prstGeom prst="rect">
            <a:avLst/>
          </a:prstGeom>
          <a:noFill/>
        </p:spPr>
        <p:txBody>
          <a:bodyPr wrap="square" anchor="t" lIns="36576" rIns="36576" tIns="0" bIns="0">
            <a:spAutoFit/>
          </a:bodyPr>
          <a:lstStyle/>
          <a:p>
            <a:pPr algn="l">
              <a:lnSpc>
                <a:spcPct val="112000"/>
              </a:lnSpc>
            </a:pPr>
            <a:r>
              <a:rPr sz="1100" b="0">
                <a:solidFill>
                  <a:srgbClr val="FFFFFF"/>
                </a:solidFill>
                <a:latin typeface="Calibri"/>
              </a:rPr>
              <a:t>static app shell · public/</a:t>
            </a:r>
          </a:p>
        </p:txBody>
      </p:sp>
      <p:sp>
        <p:nvSpPr>
          <p:cNvPr id="12" name="TextBox 11"/>
          <p:cNvSpPr txBox="1"/>
          <p:nvPr/>
        </p:nvSpPr>
        <p:spPr>
          <a:xfrm>
            <a:off x="749808" y="2651760"/>
            <a:ext cx="3200400" cy="2377440"/>
          </a:xfrm>
          <a:prstGeom prst="rect">
            <a:avLst/>
          </a:prstGeom>
          <a:noFill/>
        </p:spPr>
        <p:txBody>
          <a:bodyPr wrap="square" anchor="t" lIns="36576" rIns="36576" tIns="0" bIns="0">
            <a:spAutoFit/>
          </a:bodyPr>
          <a:lstStyle/>
          <a:p>
            <a:pPr algn="l">
              <a:lnSpc>
                <a:spcPct val="112000"/>
              </a:lnSpc>
            </a:pPr>
            <a:r>
              <a:rPr sz="1150" b="0">
                <a:solidFill>
                  <a:srgbClr val="141B2E"/>
                </a:solidFill>
                <a:latin typeface="Calibri"/>
              </a:rPr>
              <a:t>•  index.html · app.css · app.js</a:t>
            </a:r>
          </a:p>
          <a:p>
            <a:pPr algn="l">
              <a:lnSpc>
                <a:spcPct val="112000"/>
              </a:lnSpc>
            </a:pPr>
            <a:r>
              <a:rPr sz="1150" b="0">
                <a:solidFill>
                  <a:srgbClr val="141B2E"/>
                </a:solidFill>
                <a:latin typeface="Calibri"/>
              </a:rPr>
              <a:t>•  schemes.js — 43 schemes</a:t>
            </a:r>
          </a:p>
          <a:p>
            <a:pPr algn="l">
              <a:lnSpc>
                <a:spcPct val="112000"/>
              </a:lnSpc>
            </a:pPr>
            <a:r>
              <a:rPr sz="1150" b="0">
                <a:solidFill>
                  <a:srgbClr val="141B2E"/>
                </a:solidFill>
                <a:latin typeface="Calibri"/>
              </a:rPr>
              <a:t>•  i18n.js — 13 languages</a:t>
            </a:r>
          </a:p>
          <a:p>
            <a:pPr algn="l">
              <a:lnSpc>
                <a:spcPct val="112000"/>
              </a:lnSpc>
            </a:pPr>
            <a:r>
              <a:rPr sz="1150" b="0">
                <a:solidFill>
                  <a:srgbClr val="141B2E"/>
                </a:solidFill>
                <a:latin typeface="Calibri"/>
              </a:rPr>
              <a:t>•  engine.js — eligibility/docs/fraud</a:t>
            </a:r>
          </a:p>
          <a:p>
            <a:pPr algn="l">
              <a:lnSpc>
                <a:spcPct val="112000"/>
              </a:lnSpc>
            </a:pPr>
            <a:r>
              <a:rPr sz="1150" b="0">
                <a:solidFill>
                  <a:srgbClr val="141B2E"/>
                </a:solidFill>
                <a:latin typeface="Calibri"/>
              </a:rPr>
              <a:t>•  sw.js — offline cache (PWA)</a:t>
            </a:r>
          </a:p>
        </p:txBody>
      </p:sp>
      <p:sp>
        <p:nvSpPr>
          <p:cNvPr id="13" name="TextBox 12"/>
          <p:cNvSpPr txBox="1"/>
          <p:nvPr/>
        </p:nvSpPr>
        <p:spPr>
          <a:xfrm>
            <a:off x="4078224" y="3200400"/>
            <a:ext cx="228600" cy="365760"/>
          </a:xfrm>
          <a:prstGeom prst="rect">
            <a:avLst/>
          </a:prstGeom>
          <a:noFill/>
        </p:spPr>
        <p:txBody>
          <a:bodyPr wrap="square" anchor="t" lIns="36576" rIns="36576" tIns="0" bIns="0">
            <a:spAutoFit/>
          </a:bodyPr>
          <a:lstStyle/>
          <a:p>
            <a:pPr algn="ctr">
              <a:lnSpc>
                <a:spcPct val="112000"/>
              </a:lnSpc>
            </a:pPr>
            <a:r>
              <a:rPr sz="2200" b="1">
                <a:solidFill>
                  <a:srgbClr val="5A647A"/>
                </a:solidFill>
                <a:latin typeface="Calibri"/>
              </a:rPr>
              <a:t>›</a:t>
            </a:r>
          </a:p>
        </p:txBody>
      </p:sp>
      <p:sp>
        <p:nvSpPr>
          <p:cNvPr id="14" name="Rounded Rectangle 13"/>
          <p:cNvSpPr/>
          <p:nvPr/>
        </p:nvSpPr>
        <p:spPr>
          <a:xfrm>
            <a:off x="4306824" y="1783080"/>
            <a:ext cx="3529584" cy="338328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06824" y="1783080"/>
            <a:ext cx="3529584" cy="685800"/>
          </a:xfrm>
          <a:prstGeom prst="roundRect">
            <a:avLst>
              <a:gd name="adj" fmla="val 12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06824" y="2240280"/>
            <a:ext cx="3529584" cy="2286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9704" y="1874519"/>
            <a:ext cx="3200400" cy="274320"/>
          </a:xfrm>
          <a:prstGeom prst="rect">
            <a:avLst/>
          </a:prstGeom>
          <a:noFill/>
        </p:spPr>
        <p:txBody>
          <a:bodyPr wrap="square" anchor="t" lIns="36576" rIns="36576" tIns="0" bIns="0">
            <a:spAutoFit/>
          </a:bodyPr>
          <a:lstStyle/>
          <a:p>
            <a:pPr algn="l">
              <a:lnSpc>
                <a:spcPct val="112000"/>
              </a:lnSpc>
            </a:pPr>
            <a:r>
              <a:rPr sz="1450" b="1">
                <a:solidFill>
                  <a:srgbClr val="FFFFFF"/>
                </a:solidFill>
                <a:latin typeface="Calibri"/>
              </a:rPr>
              <a:t>Vercel serverless</a:t>
            </a:r>
          </a:p>
        </p:txBody>
      </p:sp>
      <p:sp>
        <p:nvSpPr>
          <p:cNvPr id="18" name="TextBox 17"/>
          <p:cNvSpPr txBox="1"/>
          <p:nvPr/>
        </p:nvSpPr>
        <p:spPr>
          <a:xfrm>
            <a:off x="4489704" y="2148840"/>
            <a:ext cx="3200400" cy="274320"/>
          </a:xfrm>
          <a:prstGeom prst="rect">
            <a:avLst/>
          </a:prstGeom>
          <a:noFill/>
        </p:spPr>
        <p:txBody>
          <a:bodyPr wrap="square" anchor="t" lIns="36576" rIns="36576" tIns="0" bIns="0">
            <a:spAutoFit/>
          </a:bodyPr>
          <a:lstStyle/>
          <a:p>
            <a:pPr algn="l">
              <a:lnSpc>
                <a:spcPct val="112000"/>
              </a:lnSpc>
            </a:pPr>
            <a:r>
              <a:rPr sz="1100" b="0">
                <a:solidFill>
                  <a:srgbClr val="FFFFFF"/>
                </a:solidFill>
                <a:latin typeface="Calibri"/>
              </a:rPr>
              <a:t>api/ai.js · api/kb.js</a:t>
            </a:r>
          </a:p>
        </p:txBody>
      </p:sp>
      <p:sp>
        <p:nvSpPr>
          <p:cNvPr id="19" name="TextBox 18"/>
          <p:cNvSpPr txBox="1"/>
          <p:nvPr/>
        </p:nvSpPr>
        <p:spPr>
          <a:xfrm>
            <a:off x="4507992" y="2651760"/>
            <a:ext cx="3200400" cy="2377440"/>
          </a:xfrm>
          <a:prstGeom prst="rect">
            <a:avLst/>
          </a:prstGeom>
          <a:noFill/>
        </p:spPr>
        <p:txBody>
          <a:bodyPr wrap="square" anchor="t" lIns="36576" rIns="36576" tIns="0" bIns="0">
            <a:spAutoFit/>
          </a:bodyPr>
          <a:lstStyle/>
          <a:p>
            <a:pPr algn="l">
              <a:lnSpc>
                <a:spcPct val="112000"/>
              </a:lnSpc>
            </a:pPr>
            <a:r>
              <a:rPr sz="1150" b="0">
                <a:solidFill>
                  <a:srgbClr val="141B2E"/>
                </a:solidFill>
                <a:latin typeface="Calibri"/>
              </a:rPr>
              <a:t>•  One Node.js function</a:t>
            </a:r>
          </a:p>
          <a:p>
            <a:pPr algn="l">
              <a:lnSpc>
                <a:spcPct val="112000"/>
              </a:lnSpc>
            </a:pPr>
            <a:r>
              <a:rPr sz="1150" b="0">
                <a:solidFill>
                  <a:srgbClr val="141B2E"/>
                </a:solidFill>
                <a:latin typeface="Calibri"/>
              </a:rPr>
              <a:t>•  3 modes: chat | letter | fraud</a:t>
            </a:r>
          </a:p>
          <a:p>
            <a:pPr algn="l">
              <a:lnSpc>
                <a:spcPct val="112000"/>
              </a:lnSpc>
            </a:pPr>
            <a:r>
              <a:rPr sz="1150" b="0">
                <a:solidFill>
                  <a:srgbClr val="141B2E"/>
                </a:solidFill>
                <a:latin typeface="Calibri"/>
              </a:rPr>
              <a:t>•  Grounded prompt from the KB</a:t>
            </a:r>
          </a:p>
          <a:p>
            <a:pPr algn="l">
              <a:lnSpc>
                <a:spcPct val="112000"/>
              </a:lnSpc>
            </a:pPr>
            <a:r>
              <a:rPr sz="1150" b="0">
                <a:solidFill>
                  <a:srgbClr val="141B2E"/>
                </a:solidFill>
                <a:latin typeface="Calibri"/>
              </a:rPr>
              <a:t>•  Rate-limited, model fallback</a:t>
            </a:r>
          </a:p>
          <a:p>
            <a:pPr algn="l">
              <a:lnSpc>
                <a:spcPct val="112000"/>
              </a:lnSpc>
            </a:pPr>
            <a:r>
              <a:rPr sz="1150" b="0">
                <a:solidFill>
                  <a:srgbClr val="141B2E"/>
                </a:solidFill>
                <a:latin typeface="Calibri"/>
              </a:rPr>
              <a:t>•  Returns fallback:true on any error</a:t>
            </a:r>
          </a:p>
        </p:txBody>
      </p:sp>
      <p:sp>
        <p:nvSpPr>
          <p:cNvPr id="20" name="TextBox 19"/>
          <p:cNvSpPr txBox="1"/>
          <p:nvPr/>
        </p:nvSpPr>
        <p:spPr>
          <a:xfrm>
            <a:off x="7836408" y="3200400"/>
            <a:ext cx="228600" cy="365760"/>
          </a:xfrm>
          <a:prstGeom prst="rect">
            <a:avLst/>
          </a:prstGeom>
          <a:noFill/>
        </p:spPr>
        <p:txBody>
          <a:bodyPr wrap="square" anchor="t" lIns="36576" rIns="36576" tIns="0" bIns="0">
            <a:spAutoFit/>
          </a:bodyPr>
          <a:lstStyle/>
          <a:p>
            <a:pPr algn="ctr">
              <a:lnSpc>
                <a:spcPct val="112000"/>
              </a:lnSpc>
            </a:pPr>
            <a:r>
              <a:rPr sz="2200" b="1">
                <a:solidFill>
                  <a:srgbClr val="5A647A"/>
                </a:solidFill>
                <a:latin typeface="Calibri"/>
              </a:rPr>
              <a:t>›</a:t>
            </a:r>
          </a:p>
        </p:txBody>
      </p:sp>
      <p:sp>
        <p:nvSpPr>
          <p:cNvPr id="21" name="Rounded Rectangle 20"/>
          <p:cNvSpPr/>
          <p:nvPr/>
        </p:nvSpPr>
        <p:spPr>
          <a:xfrm>
            <a:off x="8065008" y="1783080"/>
            <a:ext cx="3529584" cy="338328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65008" y="1783080"/>
            <a:ext cx="3529584" cy="685800"/>
          </a:xfrm>
          <a:prstGeom prst="roundRect">
            <a:avLst>
              <a:gd name="adj" fmla="val 12000"/>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65008" y="2240280"/>
            <a:ext cx="3529584" cy="2286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7888" y="1874519"/>
            <a:ext cx="3200400" cy="274320"/>
          </a:xfrm>
          <a:prstGeom prst="rect">
            <a:avLst/>
          </a:prstGeom>
          <a:noFill/>
        </p:spPr>
        <p:txBody>
          <a:bodyPr wrap="square" anchor="t" lIns="36576" rIns="36576" tIns="0" bIns="0">
            <a:spAutoFit/>
          </a:bodyPr>
          <a:lstStyle/>
          <a:p>
            <a:pPr algn="l">
              <a:lnSpc>
                <a:spcPct val="112000"/>
              </a:lnSpc>
            </a:pPr>
            <a:r>
              <a:rPr sz="1450" b="1">
                <a:solidFill>
                  <a:srgbClr val="FFFFFF"/>
                </a:solidFill>
                <a:latin typeface="Calibri"/>
              </a:rPr>
              <a:t>LLM (optional)</a:t>
            </a:r>
          </a:p>
        </p:txBody>
      </p:sp>
      <p:sp>
        <p:nvSpPr>
          <p:cNvPr id="25" name="TextBox 24"/>
          <p:cNvSpPr txBox="1"/>
          <p:nvPr/>
        </p:nvSpPr>
        <p:spPr>
          <a:xfrm>
            <a:off x="8247888" y="2148840"/>
            <a:ext cx="3200400" cy="274320"/>
          </a:xfrm>
          <a:prstGeom prst="rect">
            <a:avLst/>
          </a:prstGeom>
          <a:noFill/>
        </p:spPr>
        <p:txBody>
          <a:bodyPr wrap="square" anchor="t" lIns="36576" rIns="36576" tIns="0" bIns="0">
            <a:spAutoFit/>
          </a:bodyPr>
          <a:lstStyle/>
          <a:p>
            <a:pPr algn="l">
              <a:lnSpc>
                <a:spcPct val="112000"/>
              </a:lnSpc>
            </a:pPr>
            <a:r>
              <a:rPr sz="1100" b="0">
                <a:solidFill>
                  <a:srgbClr val="FFFFFF"/>
                </a:solidFill>
                <a:latin typeface="Calibri"/>
              </a:rPr>
              <a:t>OpenAI-compatible endpoint</a:t>
            </a:r>
          </a:p>
        </p:txBody>
      </p:sp>
      <p:sp>
        <p:nvSpPr>
          <p:cNvPr id="26" name="TextBox 25"/>
          <p:cNvSpPr txBox="1"/>
          <p:nvPr/>
        </p:nvSpPr>
        <p:spPr>
          <a:xfrm>
            <a:off x="8266176" y="2651760"/>
            <a:ext cx="3200400" cy="2377440"/>
          </a:xfrm>
          <a:prstGeom prst="rect">
            <a:avLst/>
          </a:prstGeom>
          <a:noFill/>
        </p:spPr>
        <p:txBody>
          <a:bodyPr wrap="square" anchor="t" lIns="36576" rIns="36576" tIns="0" bIns="0">
            <a:spAutoFit/>
          </a:bodyPr>
          <a:lstStyle/>
          <a:p>
            <a:pPr algn="l">
              <a:lnSpc>
                <a:spcPct val="112000"/>
              </a:lnSpc>
            </a:pPr>
            <a:r>
              <a:rPr sz="1150" b="0">
                <a:solidFill>
                  <a:srgbClr val="141B2E"/>
                </a:solidFill>
                <a:latin typeface="Calibri"/>
              </a:rPr>
              <a:t>•  gpt-5-mini → gpt-5-nano</a:t>
            </a:r>
          </a:p>
          <a:p>
            <a:pPr algn="l">
              <a:lnSpc>
                <a:spcPct val="112000"/>
              </a:lnSpc>
            </a:pPr>
            <a:r>
              <a:rPr sz="1150" b="0">
                <a:solidFill>
                  <a:srgbClr val="141B2E"/>
                </a:solidFill>
                <a:latin typeface="Calibri"/>
              </a:rPr>
              <a:t>•  Provider-agnostic</a:t>
            </a:r>
          </a:p>
          <a:p>
            <a:pPr algn="l">
              <a:lnSpc>
                <a:spcPct val="112000"/>
              </a:lnSpc>
            </a:pPr>
            <a:r>
              <a:rPr sz="1150" b="0">
                <a:solidFill>
                  <a:srgbClr val="141B2E"/>
                </a:solidFill>
                <a:latin typeface="Calibri"/>
              </a:rPr>
              <a:t>•  Never the source of truth</a:t>
            </a:r>
          </a:p>
          <a:p>
            <a:pPr algn="l">
              <a:lnSpc>
                <a:spcPct val="112000"/>
              </a:lnSpc>
            </a:pPr>
            <a:r>
              <a:rPr sz="1150" b="0">
                <a:solidFill>
                  <a:srgbClr val="141B2E"/>
                </a:solidFill>
                <a:latin typeface="Calibri"/>
              </a:rPr>
              <a:t>•  Swappable via env vars</a:t>
            </a:r>
          </a:p>
          <a:p>
            <a:pPr algn="l">
              <a:lnSpc>
                <a:spcPct val="112000"/>
              </a:lnSpc>
            </a:pPr>
            <a:r>
              <a:rPr sz="1150" b="0">
                <a:solidFill>
                  <a:srgbClr val="141B2E"/>
                </a:solidFill>
                <a:latin typeface="Calibri"/>
              </a:rPr>
              <a:t>•  Absent → offline engine answers</a:t>
            </a:r>
          </a:p>
        </p:txBody>
      </p:sp>
      <p:sp>
        <p:nvSpPr>
          <p:cNvPr id="27" name="Rounded Rectangle 26"/>
          <p:cNvSpPr/>
          <p:nvPr/>
        </p:nvSpPr>
        <p:spPr>
          <a:xfrm>
            <a:off x="548640" y="5349240"/>
            <a:ext cx="11091672" cy="777240"/>
          </a:xfrm>
          <a:prstGeom prst="roundRect">
            <a:avLst>
              <a:gd name="adj" fmla="val 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68112"/>
            <a:ext cx="10515600" cy="54864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Deliberate choice: the same api/ai.js handler runs under the local dev server and on Vercel — local and production behaviour are identical.</a:t>
            </a:r>
          </a:p>
        </p:txBody>
      </p:sp>
      <p:sp>
        <p:nvSpPr>
          <p:cNvPr id="29" name="TextBox 28"/>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KNOWLEDGE BASE</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Real schemes, real rules, real portals</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10</a:t>
            </a:r>
          </a:p>
        </p:txBody>
      </p:sp>
      <p:sp>
        <p:nvSpPr>
          <p:cNvPr id="7" name="Rounded Rectangle 6"/>
          <p:cNvSpPr/>
          <p:nvPr/>
        </p:nvSpPr>
        <p:spPr>
          <a:xfrm>
            <a:off x="548640" y="1737360"/>
            <a:ext cx="2103120" cy="1234440"/>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2103120" cy="548640"/>
          </a:xfrm>
          <a:prstGeom prst="rect">
            <a:avLst/>
          </a:prstGeom>
          <a:noFill/>
        </p:spPr>
        <p:txBody>
          <a:bodyPr wrap="square" anchor="t" lIns="36576" rIns="36576" tIns="0" bIns="0">
            <a:spAutoFit/>
          </a:bodyPr>
          <a:lstStyle/>
          <a:p>
            <a:pPr algn="ctr">
              <a:lnSpc>
                <a:spcPct val="112000"/>
              </a:lnSpc>
            </a:pPr>
            <a:r>
              <a:rPr sz="3200" b="1">
                <a:solidFill>
                  <a:srgbClr val="0B3D91"/>
                </a:solidFill>
                <a:latin typeface="Calibri"/>
              </a:rPr>
              <a:t>43</a:t>
            </a:r>
          </a:p>
        </p:txBody>
      </p:sp>
      <p:sp>
        <p:nvSpPr>
          <p:cNvPr id="9" name="TextBox 8"/>
          <p:cNvSpPr txBox="1"/>
          <p:nvPr/>
        </p:nvSpPr>
        <p:spPr>
          <a:xfrm>
            <a:off x="548640" y="2450592"/>
            <a:ext cx="2103120" cy="457200"/>
          </a:xfrm>
          <a:prstGeom prst="rect">
            <a:avLst/>
          </a:prstGeom>
          <a:noFill/>
        </p:spPr>
        <p:txBody>
          <a:bodyPr wrap="square" anchor="t" lIns="36576" rIns="36576" tIns="0" bIns="0">
            <a:spAutoFit/>
          </a:bodyPr>
          <a:lstStyle/>
          <a:p>
            <a:pPr algn="ctr">
              <a:lnSpc>
                <a:spcPct val="112000"/>
              </a:lnSpc>
            </a:pPr>
            <a:r>
              <a:rPr sz="1150" b="0">
                <a:solidFill>
                  <a:srgbClr val="5A647A"/>
                </a:solidFill>
                <a:latin typeface="Calibri"/>
              </a:rPr>
              <a:t>Government schemes</a:t>
            </a:r>
          </a:p>
        </p:txBody>
      </p:sp>
      <p:sp>
        <p:nvSpPr>
          <p:cNvPr id="10" name="Rounded Rectangle 9"/>
          <p:cNvSpPr/>
          <p:nvPr/>
        </p:nvSpPr>
        <p:spPr>
          <a:xfrm>
            <a:off x="2807208" y="1737360"/>
            <a:ext cx="2103120" cy="1234440"/>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07208" y="1847088"/>
            <a:ext cx="2103120" cy="548640"/>
          </a:xfrm>
          <a:prstGeom prst="rect">
            <a:avLst/>
          </a:prstGeom>
          <a:noFill/>
        </p:spPr>
        <p:txBody>
          <a:bodyPr wrap="square" anchor="t" lIns="36576" rIns="36576" tIns="0" bIns="0">
            <a:spAutoFit/>
          </a:bodyPr>
          <a:lstStyle/>
          <a:p>
            <a:pPr algn="ctr">
              <a:lnSpc>
                <a:spcPct val="112000"/>
              </a:lnSpc>
            </a:pPr>
            <a:r>
              <a:rPr sz="3200" b="1">
                <a:solidFill>
                  <a:srgbClr val="FF9933"/>
                </a:solidFill>
                <a:latin typeface="Calibri"/>
              </a:rPr>
              <a:t>30</a:t>
            </a:r>
          </a:p>
        </p:txBody>
      </p:sp>
      <p:sp>
        <p:nvSpPr>
          <p:cNvPr id="12" name="TextBox 11"/>
          <p:cNvSpPr txBox="1"/>
          <p:nvPr/>
        </p:nvSpPr>
        <p:spPr>
          <a:xfrm>
            <a:off x="2807208" y="2450592"/>
            <a:ext cx="2103120" cy="457200"/>
          </a:xfrm>
          <a:prstGeom prst="rect">
            <a:avLst/>
          </a:prstGeom>
          <a:noFill/>
        </p:spPr>
        <p:txBody>
          <a:bodyPr wrap="square" anchor="t" lIns="36576" rIns="36576" tIns="0" bIns="0">
            <a:spAutoFit/>
          </a:bodyPr>
          <a:lstStyle/>
          <a:p>
            <a:pPr algn="ctr">
              <a:lnSpc>
                <a:spcPct val="112000"/>
              </a:lnSpc>
            </a:pPr>
            <a:r>
              <a:rPr sz="1150" b="0">
                <a:solidFill>
                  <a:srgbClr val="5A647A"/>
                </a:solidFill>
                <a:latin typeface="Calibri"/>
              </a:rPr>
              <a:t>Categories covered</a:t>
            </a:r>
          </a:p>
        </p:txBody>
      </p:sp>
      <p:sp>
        <p:nvSpPr>
          <p:cNvPr id="13" name="Rounded Rectangle 12"/>
          <p:cNvSpPr/>
          <p:nvPr/>
        </p:nvSpPr>
        <p:spPr>
          <a:xfrm>
            <a:off x="5065776" y="1737360"/>
            <a:ext cx="2103120" cy="1234440"/>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65776" y="1847088"/>
            <a:ext cx="2103120" cy="548640"/>
          </a:xfrm>
          <a:prstGeom prst="rect">
            <a:avLst/>
          </a:prstGeom>
          <a:noFill/>
        </p:spPr>
        <p:txBody>
          <a:bodyPr wrap="square" anchor="t" lIns="36576" rIns="36576" tIns="0" bIns="0">
            <a:spAutoFit/>
          </a:bodyPr>
          <a:lstStyle/>
          <a:p>
            <a:pPr algn="ctr">
              <a:lnSpc>
                <a:spcPct val="112000"/>
              </a:lnSpc>
            </a:pPr>
            <a:r>
              <a:rPr sz="3200" b="1">
                <a:solidFill>
                  <a:srgbClr val="138808"/>
                </a:solidFill>
                <a:latin typeface="Calibri"/>
              </a:rPr>
              <a:t>83</a:t>
            </a:r>
          </a:p>
        </p:txBody>
      </p:sp>
      <p:sp>
        <p:nvSpPr>
          <p:cNvPr id="15" name="TextBox 14"/>
          <p:cNvSpPr txBox="1"/>
          <p:nvPr/>
        </p:nvSpPr>
        <p:spPr>
          <a:xfrm>
            <a:off x="5065776" y="2450592"/>
            <a:ext cx="2103120" cy="457200"/>
          </a:xfrm>
          <a:prstGeom prst="rect">
            <a:avLst/>
          </a:prstGeom>
          <a:noFill/>
        </p:spPr>
        <p:txBody>
          <a:bodyPr wrap="square" anchor="t" lIns="36576" rIns="36576" tIns="0" bIns="0">
            <a:spAutoFit/>
          </a:bodyPr>
          <a:lstStyle/>
          <a:p>
            <a:pPr algn="ctr">
              <a:lnSpc>
                <a:spcPct val="112000"/>
              </a:lnSpc>
            </a:pPr>
            <a:r>
              <a:rPr sz="1150" b="0">
                <a:solidFill>
                  <a:srgbClr val="5A647A"/>
                </a:solidFill>
                <a:latin typeface="Calibri"/>
              </a:rPr>
              <a:t>Documents with guides</a:t>
            </a:r>
          </a:p>
        </p:txBody>
      </p:sp>
      <p:sp>
        <p:nvSpPr>
          <p:cNvPr id="16" name="Rounded Rectangle 15"/>
          <p:cNvSpPr/>
          <p:nvPr/>
        </p:nvSpPr>
        <p:spPr>
          <a:xfrm>
            <a:off x="7324344" y="1737360"/>
            <a:ext cx="2103120" cy="1234440"/>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4344" y="1847088"/>
            <a:ext cx="2103120" cy="548640"/>
          </a:xfrm>
          <a:prstGeom prst="rect">
            <a:avLst/>
          </a:prstGeom>
          <a:noFill/>
        </p:spPr>
        <p:txBody>
          <a:bodyPr wrap="square" anchor="t" lIns="36576" rIns="36576" tIns="0" bIns="0">
            <a:spAutoFit/>
          </a:bodyPr>
          <a:lstStyle/>
          <a:p>
            <a:pPr algn="ctr">
              <a:lnSpc>
                <a:spcPct val="112000"/>
              </a:lnSpc>
            </a:pPr>
            <a:r>
              <a:rPr sz="3200" b="1">
                <a:solidFill>
                  <a:srgbClr val="0B3D91"/>
                </a:solidFill>
                <a:latin typeface="Calibri"/>
              </a:rPr>
              <a:t>12</a:t>
            </a:r>
          </a:p>
        </p:txBody>
      </p:sp>
      <p:sp>
        <p:nvSpPr>
          <p:cNvPr id="18" name="TextBox 17"/>
          <p:cNvSpPr txBox="1"/>
          <p:nvPr/>
        </p:nvSpPr>
        <p:spPr>
          <a:xfrm>
            <a:off x="7324344" y="2450592"/>
            <a:ext cx="2103120" cy="457200"/>
          </a:xfrm>
          <a:prstGeom prst="rect">
            <a:avLst/>
          </a:prstGeom>
          <a:noFill/>
        </p:spPr>
        <p:txBody>
          <a:bodyPr wrap="square" anchor="t" lIns="36576" rIns="36576" tIns="0" bIns="0">
            <a:spAutoFit/>
          </a:bodyPr>
          <a:lstStyle/>
          <a:p>
            <a:pPr algn="ctr">
              <a:lnSpc>
                <a:spcPct val="112000"/>
              </a:lnSpc>
            </a:pPr>
            <a:r>
              <a:rPr sz="1150" b="0">
                <a:solidFill>
                  <a:srgbClr val="5A647A"/>
                </a:solidFill>
                <a:latin typeface="Calibri"/>
              </a:rPr>
              <a:t>National helplines</a:t>
            </a:r>
          </a:p>
        </p:txBody>
      </p:sp>
      <p:sp>
        <p:nvSpPr>
          <p:cNvPr id="19" name="Rounded Rectangle 18"/>
          <p:cNvSpPr/>
          <p:nvPr/>
        </p:nvSpPr>
        <p:spPr>
          <a:xfrm>
            <a:off x="9582912" y="1737360"/>
            <a:ext cx="2103120" cy="1234440"/>
          </a:xfrm>
          <a:prstGeom prst="roundRect">
            <a:avLst>
              <a:gd name="adj" fmla="val 10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82912" y="1847088"/>
            <a:ext cx="2103120" cy="548640"/>
          </a:xfrm>
          <a:prstGeom prst="rect">
            <a:avLst/>
          </a:prstGeom>
          <a:noFill/>
        </p:spPr>
        <p:txBody>
          <a:bodyPr wrap="square" anchor="t" lIns="36576" rIns="36576" tIns="0" bIns="0">
            <a:spAutoFit/>
          </a:bodyPr>
          <a:lstStyle/>
          <a:p>
            <a:pPr algn="ctr">
              <a:lnSpc>
                <a:spcPct val="112000"/>
              </a:lnSpc>
            </a:pPr>
            <a:r>
              <a:rPr sz="3200" b="1">
                <a:solidFill>
                  <a:srgbClr val="138808"/>
                </a:solidFill>
                <a:latin typeface="Calibri"/>
              </a:rPr>
              <a:t>13</a:t>
            </a:r>
          </a:p>
        </p:txBody>
      </p:sp>
      <p:sp>
        <p:nvSpPr>
          <p:cNvPr id="21" name="TextBox 20"/>
          <p:cNvSpPr txBox="1"/>
          <p:nvPr/>
        </p:nvSpPr>
        <p:spPr>
          <a:xfrm>
            <a:off x="9582912" y="2450592"/>
            <a:ext cx="2103120" cy="457200"/>
          </a:xfrm>
          <a:prstGeom prst="rect">
            <a:avLst/>
          </a:prstGeom>
          <a:noFill/>
        </p:spPr>
        <p:txBody>
          <a:bodyPr wrap="square" anchor="t" lIns="36576" rIns="36576" tIns="0" bIns="0">
            <a:spAutoFit/>
          </a:bodyPr>
          <a:lstStyle/>
          <a:p>
            <a:pPr algn="ctr">
              <a:lnSpc>
                <a:spcPct val="112000"/>
              </a:lnSpc>
            </a:pPr>
            <a:r>
              <a:rPr sz="1150" b="0">
                <a:solidFill>
                  <a:srgbClr val="5A647A"/>
                </a:solidFill>
                <a:latin typeface="Calibri"/>
              </a:rPr>
              <a:t>Indian languages</a:t>
            </a:r>
          </a:p>
        </p:txBody>
      </p:sp>
      <p:sp>
        <p:nvSpPr>
          <p:cNvPr id="22" name="TextBox 21"/>
          <p:cNvSpPr txBox="1"/>
          <p:nvPr/>
        </p:nvSpPr>
        <p:spPr>
          <a:xfrm>
            <a:off x="548640" y="3127248"/>
            <a:ext cx="11064240" cy="365760"/>
          </a:xfrm>
          <a:prstGeom prst="rect">
            <a:avLst/>
          </a:prstGeom>
          <a:noFill/>
        </p:spPr>
        <p:txBody>
          <a:bodyPr wrap="square" anchor="t" lIns="36576" rIns="36576" tIns="0" bIns="0">
            <a:spAutoFit/>
          </a:bodyPr>
          <a:lstStyle/>
          <a:p>
            <a:pPr algn="l">
              <a:lnSpc>
                <a:spcPct val="112000"/>
              </a:lnSpc>
            </a:pPr>
            <a:r>
              <a:rPr sz="1500" b="1">
                <a:solidFill>
                  <a:srgbClr val="0B3D91"/>
                </a:solidFill>
                <a:latin typeface="Calibri"/>
              </a:rPr>
              <a:t>Representative schemes</a:t>
            </a:r>
          </a:p>
        </p:txBody>
      </p:sp>
      <p:sp>
        <p:nvSpPr>
          <p:cNvPr id="23" name="Rounded Rectangle 22"/>
          <p:cNvSpPr/>
          <p:nvPr/>
        </p:nvSpPr>
        <p:spPr>
          <a:xfrm>
            <a:off x="548640" y="35204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5844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PM-Kisan</a:t>
            </a:r>
          </a:p>
        </p:txBody>
      </p:sp>
      <p:sp>
        <p:nvSpPr>
          <p:cNvPr id="25" name="Rounded Rectangle 24"/>
          <p:cNvSpPr/>
          <p:nvPr/>
        </p:nvSpPr>
        <p:spPr>
          <a:xfrm>
            <a:off x="3355848" y="35204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65576" y="35844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PM-JAY (Ayushman)</a:t>
            </a:r>
          </a:p>
        </p:txBody>
      </p:sp>
      <p:sp>
        <p:nvSpPr>
          <p:cNvPr id="27" name="Rounded Rectangle 26"/>
          <p:cNvSpPr/>
          <p:nvPr/>
        </p:nvSpPr>
        <p:spPr>
          <a:xfrm>
            <a:off x="6163056" y="35204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2784" y="35844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PM Awas Yojana (G&amp;U)</a:t>
            </a:r>
          </a:p>
        </p:txBody>
      </p:sp>
      <p:sp>
        <p:nvSpPr>
          <p:cNvPr id="29" name="Rounded Rectangle 28"/>
          <p:cNvSpPr/>
          <p:nvPr/>
        </p:nvSpPr>
        <p:spPr>
          <a:xfrm>
            <a:off x="8970264" y="35204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79992" y="35844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MGNREGA</a:t>
            </a:r>
          </a:p>
        </p:txBody>
      </p:sp>
      <p:sp>
        <p:nvSpPr>
          <p:cNvPr id="31" name="Rounded Rectangle 30"/>
          <p:cNvSpPr/>
          <p:nvPr/>
        </p:nvSpPr>
        <p:spPr>
          <a:xfrm>
            <a:off x="548640" y="39776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0416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NFSA</a:t>
            </a:r>
          </a:p>
        </p:txBody>
      </p:sp>
      <p:sp>
        <p:nvSpPr>
          <p:cNvPr id="33" name="Rounded Rectangle 32"/>
          <p:cNvSpPr/>
          <p:nvPr/>
        </p:nvSpPr>
        <p:spPr>
          <a:xfrm>
            <a:off x="3355848" y="39776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465576" y="40416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NSAP pensions</a:t>
            </a:r>
          </a:p>
        </p:txBody>
      </p:sp>
      <p:sp>
        <p:nvSpPr>
          <p:cNvPr id="35" name="Rounded Rectangle 34"/>
          <p:cNvSpPr/>
          <p:nvPr/>
        </p:nvSpPr>
        <p:spPr>
          <a:xfrm>
            <a:off x="6163056" y="39776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72784" y="40416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Sukanya Samriddhi</a:t>
            </a:r>
          </a:p>
        </p:txBody>
      </p:sp>
      <p:sp>
        <p:nvSpPr>
          <p:cNvPr id="37" name="Rounded Rectangle 36"/>
          <p:cNvSpPr/>
          <p:nvPr/>
        </p:nvSpPr>
        <p:spPr>
          <a:xfrm>
            <a:off x="8970264" y="39776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79992" y="40416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Atal Pension</a:t>
            </a:r>
          </a:p>
        </p:txBody>
      </p:sp>
      <p:sp>
        <p:nvSpPr>
          <p:cNvPr id="39" name="Rounded Rectangle 38"/>
          <p:cNvSpPr/>
          <p:nvPr/>
        </p:nvSpPr>
        <p:spPr>
          <a:xfrm>
            <a:off x="548640" y="44348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44988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Mudra</a:t>
            </a:r>
          </a:p>
        </p:txBody>
      </p:sp>
      <p:sp>
        <p:nvSpPr>
          <p:cNvPr id="41" name="Rounded Rectangle 40"/>
          <p:cNvSpPr/>
          <p:nvPr/>
        </p:nvSpPr>
        <p:spPr>
          <a:xfrm>
            <a:off x="3355848" y="44348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65576" y="44988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PM SVANidhi</a:t>
            </a:r>
          </a:p>
        </p:txBody>
      </p:sp>
      <p:sp>
        <p:nvSpPr>
          <p:cNvPr id="43" name="Rounded Rectangle 42"/>
          <p:cNvSpPr/>
          <p:nvPr/>
        </p:nvSpPr>
        <p:spPr>
          <a:xfrm>
            <a:off x="6163056" y="44348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2784" y="44988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Ujjwala</a:t>
            </a:r>
          </a:p>
        </p:txBody>
      </p:sp>
      <p:sp>
        <p:nvSpPr>
          <p:cNvPr id="45" name="Rounded Rectangle 44"/>
          <p:cNvSpPr/>
          <p:nvPr/>
        </p:nvSpPr>
        <p:spPr>
          <a:xfrm>
            <a:off x="8970264" y="44348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79992" y="44988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Jal Jeevan Mission</a:t>
            </a:r>
          </a:p>
        </p:txBody>
      </p:sp>
      <p:sp>
        <p:nvSpPr>
          <p:cNvPr id="47" name="Rounded Rectangle 46"/>
          <p:cNvSpPr/>
          <p:nvPr/>
        </p:nvSpPr>
        <p:spPr>
          <a:xfrm>
            <a:off x="548640" y="48920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49560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RTE</a:t>
            </a:r>
          </a:p>
        </p:txBody>
      </p:sp>
      <p:sp>
        <p:nvSpPr>
          <p:cNvPr id="49" name="Rounded Rectangle 48"/>
          <p:cNvSpPr/>
          <p:nvPr/>
        </p:nvSpPr>
        <p:spPr>
          <a:xfrm>
            <a:off x="3355848" y="48920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65576" y="49560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PM Vishwakarma</a:t>
            </a:r>
          </a:p>
        </p:txBody>
      </p:sp>
      <p:sp>
        <p:nvSpPr>
          <p:cNvPr id="51" name="Rounded Rectangle 50"/>
          <p:cNvSpPr/>
          <p:nvPr/>
        </p:nvSpPr>
        <p:spPr>
          <a:xfrm>
            <a:off x="6163056" y="48920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72784" y="49560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e-Shram</a:t>
            </a:r>
          </a:p>
        </p:txBody>
      </p:sp>
      <p:sp>
        <p:nvSpPr>
          <p:cNvPr id="53" name="Rounded Rectangle 52"/>
          <p:cNvSpPr/>
          <p:nvPr/>
        </p:nvSpPr>
        <p:spPr>
          <a:xfrm>
            <a:off x="8970264" y="48920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79992" y="49560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UDID</a:t>
            </a:r>
          </a:p>
        </p:txBody>
      </p:sp>
      <p:sp>
        <p:nvSpPr>
          <p:cNvPr id="55" name="Rounded Rectangle 54"/>
          <p:cNvSpPr/>
          <p:nvPr/>
        </p:nvSpPr>
        <p:spPr>
          <a:xfrm>
            <a:off x="548640" y="53492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8368" y="54132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DigiLocker</a:t>
            </a:r>
          </a:p>
        </p:txBody>
      </p:sp>
      <p:sp>
        <p:nvSpPr>
          <p:cNvPr id="57" name="Rounded Rectangle 56"/>
          <p:cNvSpPr/>
          <p:nvPr/>
        </p:nvSpPr>
        <p:spPr>
          <a:xfrm>
            <a:off x="3355848" y="53492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465576" y="54132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Passport Seva</a:t>
            </a:r>
          </a:p>
        </p:txBody>
      </p:sp>
      <p:sp>
        <p:nvSpPr>
          <p:cNvPr id="59" name="Rounded Rectangle 58"/>
          <p:cNvSpPr/>
          <p:nvPr/>
        </p:nvSpPr>
        <p:spPr>
          <a:xfrm>
            <a:off x="6163056" y="53492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72784" y="54132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Ni-kshay (TB)</a:t>
            </a:r>
          </a:p>
        </p:txBody>
      </p:sp>
      <p:sp>
        <p:nvSpPr>
          <p:cNvPr id="61" name="Rounded Rectangle 60"/>
          <p:cNvSpPr/>
          <p:nvPr/>
        </p:nvSpPr>
        <p:spPr>
          <a:xfrm>
            <a:off x="8970264" y="5349240"/>
            <a:ext cx="2651760" cy="365760"/>
          </a:xfrm>
          <a:prstGeom prst="roundRect">
            <a:avLst>
              <a:gd name="adj" fmla="val 25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079992" y="5413248"/>
            <a:ext cx="2468880" cy="27432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RTI</a:t>
            </a:r>
          </a:p>
        </p:txBody>
      </p:sp>
      <p:sp>
        <p:nvSpPr>
          <p:cNvPr id="63" name="TextBox 62"/>
          <p:cNvSpPr txBox="1"/>
          <p:nvPr/>
        </p:nvSpPr>
        <p:spPr>
          <a:xfrm>
            <a:off x="548640" y="5943600"/>
            <a:ext cx="11064240" cy="365760"/>
          </a:xfrm>
          <a:prstGeom prst="rect">
            <a:avLst/>
          </a:prstGeom>
          <a:noFill/>
        </p:spPr>
        <p:txBody>
          <a:bodyPr wrap="square" anchor="t" lIns="36576" rIns="36576" tIns="0" bIns="0">
            <a:spAutoFit/>
          </a:bodyPr>
          <a:lstStyle/>
          <a:p>
            <a:pPr algn="l">
              <a:lnSpc>
                <a:spcPct val="112000"/>
              </a:lnSpc>
            </a:pPr>
            <a:r>
              <a:rPr sz="1200" b="0">
                <a:solidFill>
                  <a:srgbClr val="5A647A"/>
                </a:solidFill>
                <a:latin typeface="Calibri"/>
              </a:rPr>
              <a:t>Every entry carries a machine-readable rules{} block, its official .gov.in portal, required documents and application steps.</a:t>
            </a:r>
          </a:p>
        </p:txBody>
      </p:sp>
      <p:sp>
        <p:nvSpPr>
          <p:cNvPr id="64" name="TextBox 63"/>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INCLUSION</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Built for a first-time internet user</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11</a:t>
            </a:r>
          </a:p>
        </p:txBody>
      </p:sp>
      <p:sp>
        <p:nvSpPr>
          <p:cNvPr id="7" name="Rounded Rectangle 6"/>
          <p:cNvSpPr/>
          <p:nvPr/>
        </p:nvSpPr>
        <p:spPr>
          <a:xfrm>
            <a:off x="548640" y="1783080"/>
            <a:ext cx="2651760" cy="3108960"/>
          </a:xfrm>
          <a:prstGeom prst="roundRect">
            <a:avLst>
              <a:gd name="adj" fmla="val 8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11680"/>
            <a:ext cx="2651760" cy="640080"/>
          </a:xfrm>
          <a:prstGeom prst="rect">
            <a:avLst/>
          </a:prstGeom>
          <a:noFill/>
        </p:spPr>
        <p:txBody>
          <a:bodyPr wrap="square" anchor="t" lIns="36576" rIns="36576" tIns="0" bIns="0">
            <a:spAutoFit/>
          </a:bodyPr>
          <a:lstStyle/>
          <a:p>
            <a:pPr algn="ctr">
              <a:lnSpc>
                <a:spcPct val="112000"/>
              </a:lnSpc>
            </a:pPr>
            <a:r>
              <a:rPr sz="3000" b="0">
                <a:solidFill>
                  <a:srgbClr val="141B2E"/>
                </a:solidFill>
                <a:latin typeface="Calibri"/>
              </a:rPr>
              <a:t>🗣️</a:t>
            </a:r>
          </a:p>
        </p:txBody>
      </p:sp>
      <p:sp>
        <p:nvSpPr>
          <p:cNvPr id="9" name="TextBox 8"/>
          <p:cNvSpPr txBox="1"/>
          <p:nvPr/>
        </p:nvSpPr>
        <p:spPr>
          <a:xfrm>
            <a:off x="713232" y="2743200"/>
            <a:ext cx="2322576" cy="640080"/>
          </a:xfrm>
          <a:prstGeom prst="rect">
            <a:avLst/>
          </a:prstGeom>
          <a:noFill/>
        </p:spPr>
        <p:txBody>
          <a:bodyPr wrap="square" anchor="t" lIns="36576" rIns="36576" tIns="0" bIns="0">
            <a:spAutoFit/>
          </a:bodyPr>
          <a:lstStyle/>
          <a:p>
            <a:pPr algn="ctr">
              <a:lnSpc>
                <a:spcPct val="112000"/>
              </a:lnSpc>
            </a:pPr>
            <a:r>
              <a:rPr sz="1400" b="1">
                <a:solidFill>
                  <a:srgbClr val="0B3D91"/>
                </a:solidFill>
                <a:latin typeface="Calibri"/>
              </a:rPr>
              <a:t>13 Indian languages</a:t>
            </a:r>
          </a:p>
        </p:txBody>
      </p:sp>
      <p:sp>
        <p:nvSpPr>
          <p:cNvPr id="10" name="TextBox 9"/>
          <p:cNvSpPr txBox="1"/>
          <p:nvPr/>
        </p:nvSpPr>
        <p:spPr>
          <a:xfrm>
            <a:off x="713232" y="3401568"/>
            <a:ext cx="2322576" cy="1371600"/>
          </a:xfrm>
          <a:prstGeom prst="rect">
            <a:avLst/>
          </a:prstGeom>
          <a:noFill/>
        </p:spPr>
        <p:txBody>
          <a:bodyPr wrap="square" anchor="t" lIns="36576" rIns="36576" tIns="0" bIns="0">
            <a:spAutoFit/>
          </a:bodyPr>
          <a:lstStyle/>
          <a:p>
            <a:pPr algn="ctr">
              <a:lnSpc>
                <a:spcPct val="112000"/>
              </a:lnSpc>
            </a:pPr>
            <a:r>
              <a:rPr sz="1050" b="0">
                <a:solidFill>
                  <a:srgbClr val="5A647A"/>
                </a:solidFill>
                <a:latin typeface="Calibri"/>
              </a:rPr>
              <a:t>•  English, Hindi, Bengali, Tamil, Telugu,</a:t>
            </a:r>
          </a:p>
          <a:p>
            <a:pPr algn="ctr">
              <a:lnSpc>
                <a:spcPct val="112000"/>
              </a:lnSpc>
            </a:pPr>
            <a:r>
              <a:rPr sz="1050" b="0">
                <a:solidFill>
                  <a:srgbClr val="5A647A"/>
                </a:solidFill>
                <a:latin typeface="Calibri"/>
              </a:rPr>
              <a:t>•  Marathi, Gujarati, Kannada, Malayalam,</a:t>
            </a:r>
          </a:p>
          <a:p>
            <a:pPr algn="ctr">
              <a:lnSpc>
                <a:spcPct val="112000"/>
              </a:lnSpc>
            </a:pPr>
            <a:r>
              <a:rPr sz="1050" b="0">
                <a:solidFill>
                  <a:srgbClr val="5A647A"/>
                </a:solidFill>
                <a:latin typeface="Calibri"/>
              </a:rPr>
              <a:t>•  Punjabi, Odia, Assamese, Urdu (RTL)</a:t>
            </a:r>
          </a:p>
        </p:txBody>
      </p:sp>
      <p:sp>
        <p:nvSpPr>
          <p:cNvPr id="11" name="Rounded Rectangle 10"/>
          <p:cNvSpPr/>
          <p:nvPr/>
        </p:nvSpPr>
        <p:spPr>
          <a:xfrm>
            <a:off x="3392424" y="1783080"/>
            <a:ext cx="2651760" cy="3108960"/>
          </a:xfrm>
          <a:prstGeom prst="roundRect">
            <a:avLst>
              <a:gd name="adj" fmla="val 8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2424" y="2011680"/>
            <a:ext cx="2651760" cy="640080"/>
          </a:xfrm>
          <a:prstGeom prst="rect">
            <a:avLst/>
          </a:prstGeom>
          <a:noFill/>
        </p:spPr>
        <p:txBody>
          <a:bodyPr wrap="square" anchor="t" lIns="36576" rIns="36576" tIns="0" bIns="0">
            <a:spAutoFit/>
          </a:bodyPr>
          <a:lstStyle/>
          <a:p>
            <a:pPr algn="ctr">
              <a:lnSpc>
                <a:spcPct val="112000"/>
              </a:lnSpc>
            </a:pPr>
            <a:r>
              <a:rPr sz="3000" b="0">
                <a:solidFill>
                  <a:srgbClr val="141B2E"/>
                </a:solidFill>
                <a:latin typeface="Calibri"/>
              </a:rPr>
              <a:t>🎙️</a:t>
            </a:r>
          </a:p>
        </p:txBody>
      </p:sp>
      <p:sp>
        <p:nvSpPr>
          <p:cNvPr id="13" name="TextBox 12"/>
          <p:cNvSpPr txBox="1"/>
          <p:nvPr/>
        </p:nvSpPr>
        <p:spPr>
          <a:xfrm>
            <a:off x="3557016" y="2743200"/>
            <a:ext cx="2322576" cy="640080"/>
          </a:xfrm>
          <a:prstGeom prst="rect">
            <a:avLst/>
          </a:prstGeom>
          <a:noFill/>
        </p:spPr>
        <p:txBody>
          <a:bodyPr wrap="square" anchor="t" lIns="36576" rIns="36576" tIns="0" bIns="0">
            <a:spAutoFit/>
          </a:bodyPr>
          <a:lstStyle/>
          <a:p>
            <a:pPr algn="ctr">
              <a:lnSpc>
                <a:spcPct val="112000"/>
              </a:lnSpc>
            </a:pPr>
            <a:r>
              <a:rPr sz="1400" b="1">
                <a:solidFill>
                  <a:srgbClr val="0B3D91"/>
                </a:solidFill>
                <a:latin typeface="Calibri"/>
              </a:rPr>
              <a:t>Voice in and out</a:t>
            </a:r>
          </a:p>
        </p:txBody>
      </p:sp>
      <p:sp>
        <p:nvSpPr>
          <p:cNvPr id="14" name="TextBox 13"/>
          <p:cNvSpPr txBox="1"/>
          <p:nvPr/>
        </p:nvSpPr>
        <p:spPr>
          <a:xfrm>
            <a:off x="3557016" y="3401568"/>
            <a:ext cx="2322576" cy="1371600"/>
          </a:xfrm>
          <a:prstGeom prst="rect">
            <a:avLst/>
          </a:prstGeom>
          <a:noFill/>
        </p:spPr>
        <p:txBody>
          <a:bodyPr wrap="square" anchor="t" lIns="36576" rIns="36576" tIns="0" bIns="0">
            <a:spAutoFit/>
          </a:bodyPr>
          <a:lstStyle/>
          <a:p>
            <a:pPr algn="ctr">
              <a:lnSpc>
                <a:spcPct val="112000"/>
              </a:lnSpc>
            </a:pPr>
            <a:r>
              <a:rPr sz="1050" b="0">
                <a:solidFill>
                  <a:srgbClr val="5A647A"/>
                </a:solidFill>
                <a:latin typeface="Calibri"/>
              </a:rPr>
              <a:t>•  Speak the question, hear the answer</a:t>
            </a:r>
          </a:p>
          <a:p>
            <a:pPr algn="ctr">
              <a:lnSpc>
                <a:spcPct val="112000"/>
              </a:lnSpc>
            </a:pPr>
            <a:r>
              <a:rPr sz="1050" b="0">
                <a:solidFill>
                  <a:srgbClr val="5A647A"/>
                </a:solidFill>
                <a:latin typeface="Calibri"/>
              </a:rPr>
              <a:t>•  Web Speech API, locale-matched</a:t>
            </a:r>
          </a:p>
          <a:p>
            <a:pPr algn="ctr">
              <a:lnSpc>
                <a:spcPct val="112000"/>
              </a:lnSpc>
            </a:pPr>
            <a:r>
              <a:rPr sz="1050" b="0">
                <a:solidFill>
                  <a:srgbClr val="5A647A"/>
                </a:solidFill>
                <a:latin typeface="Calibri"/>
              </a:rPr>
              <a:t>•  Per-language voice selection</a:t>
            </a:r>
          </a:p>
        </p:txBody>
      </p:sp>
      <p:sp>
        <p:nvSpPr>
          <p:cNvPr id="15" name="Rounded Rectangle 14"/>
          <p:cNvSpPr/>
          <p:nvPr/>
        </p:nvSpPr>
        <p:spPr>
          <a:xfrm>
            <a:off x="6236208" y="1783080"/>
            <a:ext cx="2651760" cy="3108960"/>
          </a:xfrm>
          <a:prstGeom prst="roundRect">
            <a:avLst>
              <a:gd name="adj" fmla="val 8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6208" y="2011680"/>
            <a:ext cx="2651760" cy="640080"/>
          </a:xfrm>
          <a:prstGeom prst="rect">
            <a:avLst/>
          </a:prstGeom>
          <a:noFill/>
        </p:spPr>
        <p:txBody>
          <a:bodyPr wrap="square" anchor="t" lIns="36576" rIns="36576" tIns="0" bIns="0">
            <a:spAutoFit/>
          </a:bodyPr>
          <a:lstStyle/>
          <a:p>
            <a:pPr algn="ctr">
              <a:lnSpc>
                <a:spcPct val="112000"/>
              </a:lnSpc>
            </a:pPr>
            <a:r>
              <a:rPr sz="3000" b="0">
                <a:solidFill>
                  <a:srgbClr val="141B2E"/>
                </a:solidFill>
                <a:latin typeface="Calibri"/>
              </a:rPr>
              <a:t>🔎</a:t>
            </a:r>
          </a:p>
        </p:txBody>
      </p:sp>
      <p:sp>
        <p:nvSpPr>
          <p:cNvPr id="17" name="TextBox 16"/>
          <p:cNvSpPr txBox="1"/>
          <p:nvPr/>
        </p:nvSpPr>
        <p:spPr>
          <a:xfrm>
            <a:off x="6400800" y="2743200"/>
            <a:ext cx="2322576" cy="640080"/>
          </a:xfrm>
          <a:prstGeom prst="rect">
            <a:avLst/>
          </a:prstGeom>
          <a:noFill/>
        </p:spPr>
        <p:txBody>
          <a:bodyPr wrap="square" anchor="t" lIns="36576" rIns="36576" tIns="0" bIns="0">
            <a:spAutoFit/>
          </a:bodyPr>
          <a:lstStyle/>
          <a:p>
            <a:pPr algn="ctr">
              <a:lnSpc>
                <a:spcPct val="112000"/>
              </a:lnSpc>
            </a:pPr>
            <a:r>
              <a:rPr sz="1400" b="1">
                <a:solidFill>
                  <a:srgbClr val="0B3D91"/>
                </a:solidFill>
                <a:latin typeface="Calibri"/>
              </a:rPr>
              <a:t>Simple Mode</a:t>
            </a:r>
          </a:p>
        </p:txBody>
      </p:sp>
      <p:sp>
        <p:nvSpPr>
          <p:cNvPr id="18" name="TextBox 17"/>
          <p:cNvSpPr txBox="1"/>
          <p:nvPr/>
        </p:nvSpPr>
        <p:spPr>
          <a:xfrm>
            <a:off x="6400800" y="3401568"/>
            <a:ext cx="2322576" cy="1371600"/>
          </a:xfrm>
          <a:prstGeom prst="rect">
            <a:avLst/>
          </a:prstGeom>
          <a:noFill/>
        </p:spPr>
        <p:txBody>
          <a:bodyPr wrap="square" anchor="t" lIns="36576" rIns="36576" tIns="0" bIns="0">
            <a:spAutoFit/>
          </a:bodyPr>
          <a:lstStyle/>
          <a:p>
            <a:pPr algn="ctr">
              <a:lnSpc>
                <a:spcPct val="112000"/>
              </a:lnSpc>
            </a:pPr>
            <a:r>
              <a:rPr sz="1050" b="0">
                <a:solidFill>
                  <a:srgbClr val="5A647A"/>
                </a:solidFill>
                <a:latin typeface="Calibri"/>
              </a:rPr>
              <a:t>•  One tap: bigger text, calmer layout</a:t>
            </a:r>
          </a:p>
          <a:p>
            <a:pPr algn="ctr">
              <a:lnSpc>
                <a:spcPct val="112000"/>
              </a:lnSpc>
            </a:pPr>
            <a:r>
              <a:rPr sz="1050" b="0">
                <a:solidFill>
                  <a:srgbClr val="5A647A"/>
                </a:solidFill>
                <a:latin typeface="Calibri"/>
              </a:rPr>
              <a:t>•  Hides decorative elements</a:t>
            </a:r>
          </a:p>
          <a:p>
            <a:pPr algn="ctr">
              <a:lnSpc>
                <a:spcPct val="112000"/>
              </a:lnSpc>
            </a:pPr>
            <a:r>
              <a:rPr sz="1050" b="0">
                <a:solidFill>
                  <a:srgbClr val="5A647A"/>
                </a:solidFill>
                <a:latin typeface="Calibri"/>
              </a:rPr>
              <a:t>•  For users who have never filled a form</a:t>
            </a:r>
          </a:p>
        </p:txBody>
      </p:sp>
      <p:sp>
        <p:nvSpPr>
          <p:cNvPr id="19" name="Rounded Rectangle 18"/>
          <p:cNvSpPr/>
          <p:nvPr/>
        </p:nvSpPr>
        <p:spPr>
          <a:xfrm>
            <a:off x="9079992" y="1783080"/>
            <a:ext cx="2651760" cy="3108960"/>
          </a:xfrm>
          <a:prstGeom prst="roundRect">
            <a:avLst>
              <a:gd name="adj" fmla="val 8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9992" y="2011680"/>
            <a:ext cx="2651760" cy="640080"/>
          </a:xfrm>
          <a:prstGeom prst="rect">
            <a:avLst/>
          </a:prstGeom>
          <a:noFill/>
        </p:spPr>
        <p:txBody>
          <a:bodyPr wrap="square" anchor="t" lIns="36576" rIns="36576" tIns="0" bIns="0">
            <a:spAutoFit/>
          </a:bodyPr>
          <a:lstStyle/>
          <a:p>
            <a:pPr algn="ctr">
              <a:lnSpc>
                <a:spcPct val="112000"/>
              </a:lnSpc>
            </a:pPr>
            <a:r>
              <a:rPr sz="3000" b="0">
                <a:solidFill>
                  <a:srgbClr val="141B2E"/>
                </a:solidFill>
                <a:latin typeface="Calibri"/>
              </a:rPr>
              <a:t>♿</a:t>
            </a:r>
          </a:p>
        </p:txBody>
      </p:sp>
      <p:sp>
        <p:nvSpPr>
          <p:cNvPr id="21" name="TextBox 20"/>
          <p:cNvSpPr txBox="1"/>
          <p:nvPr/>
        </p:nvSpPr>
        <p:spPr>
          <a:xfrm>
            <a:off x="9244584" y="2743200"/>
            <a:ext cx="2322576" cy="640080"/>
          </a:xfrm>
          <a:prstGeom prst="rect">
            <a:avLst/>
          </a:prstGeom>
          <a:noFill/>
        </p:spPr>
        <p:txBody>
          <a:bodyPr wrap="square" anchor="t" lIns="36576" rIns="36576" tIns="0" bIns="0">
            <a:spAutoFit/>
          </a:bodyPr>
          <a:lstStyle/>
          <a:p>
            <a:pPr algn="ctr">
              <a:lnSpc>
                <a:spcPct val="112000"/>
              </a:lnSpc>
            </a:pPr>
            <a:r>
              <a:rPr sz="1400" b="1">
                <a:solidFill>
                  <a:srgbClr val="0B3D91"/>
                </a:solidFill>
                <a:latin typeface="Calibri"/>
              </a:rPr>
              <a:t>Accessible by default</a:t>
            </a:r>
          </a:p>
        </p:txBody>
      </p:sp>
      <p:sp>
        <p:nvSpPr>
          <p:cNvPr id="22" name="TextBox 21"/>
          <p:cNvSpPr txBox="1"/>
          <p:nvPr/>
        </p:nvSpPr>
        <p:spPr>
          <a:xfrm>
            <a:off x="9244584" y="3401568"/>
            <a:ext cx="2322576" cy="1371600"/>
          </a:xfrm>
          <a:prstGeom prst="rect">
            <a:avLst/>
          </a:prstGeom>
          <a:noFill/>
        </p:spPr>
        <p:txBody>
          <a:bodyPr wrap="square" anchor="t" lIns="36576" rIns="36576" tIns="0" bIns="0">
            <a:spAutoFit/>
          </a:bodyPr>
          <a:lstStyle/>
          <a:p>
            <a:pPr algn="ctr">
              <a:lnSpc>
                <a:spcPct val="112000"/>
              </a:lnSpc>
            </a:pPr>
            <a:r>
              <a:rPr sz="1050" b="0">
                <a:solidFill>
                  <a:srgbClr val="5A647A"/>
                </a:solidFill>
                <a:latin typeface="Calibri"/>
              </a:rPr>
              <a:t>•  Font scaling to 140%</a:t>
            </a:r>
          </a:p>
          <a:p>
            <a:pPr algn="ctr">
              <a:lnSpc>
                <a:spcPct val="112000"/>
              </a:lnSpc>
            </a:pPr>
            <a:r>
              <a:rPr sz="1050" b="0">
                <a:solidFill>
                  <a:srgbClr val="5A647A"/>
                </a:solidFill>
                <a:latin typeface="Calibri"/>
              </a:rPr>
              <a:t>•  High-contrast + dark mode</a:t>
            </a:r>
          </a:p>
          <a:p>
            <a:pPr algn="ctr">
              <a:lnSpc>
                <a:spcPct val="112000"/>
              </a:lnSpc>
            </a:pPr>
            <a:r>
              <a:rPr sz="1050" b="0">
                <a:solidFill>
                  <a:srgbClr val="5A647A"/>
                </a:solidFill>
                <a:latin typeface="Calibri"/>
              </a:rPr>
              <a:t>•  Semantic HTML, ARIA live regions</a:t>
            </a:r>
          </a:p>
        </p:txBody>
      </p:sp>
      <p:sp>
        <p:nvSpPr>
          <p:cNvPr id="23" name="Rounded Rectangle 22"/>
          <p:cNvSpPr/>
          <p:nvPr/>
        </p:nvSpPr>
        <p:spPr>
          <a:xfrm>
            <a:off x="548640" y="5074920"/>
            <a:ext cx="11091672" cy="1005840"/>
          </a:xfrm>
          <a:prstGeom prst="roundRect">
            <a:avLst>
              <a:gd name="adj" fmla="val 8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230368"/>
            <a:ext cx="10515600" cy="73152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Privacy by design:  profile, tracker and chat live only in the browser's localStorage — nothing is uploaded.</a:t>
            </a:r>
          </a:p>
          <a:p>
            <a:pPr algn="l">
              <a:lnSpc>
                <a:spcPct val="112000"/>
              </a:lnSpc>
              <a:spcBef>
                <a:spcPts val="600"/>
              </a:spcBef>
            </a:pPr>
            <a:r>
              <a:rPr sz="1200" b="0">
                <a:solidFill>
                  <a:srgbClr val="5A647A"/>
                </a:solidFill>
                <a:latin typeface="Calibri"/>
              </a:rPr>
              <a:t>Only free-text the user explicitly submits is sent to the LLM, and only while online.</a:t>
            </a:r>
          </a:p>
        </p:txBody>
      </p:sp>
      <p:sp>
        <p:nvSpPr>
          <p:cNvPr id="25" name="TextBox 24"/>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DEPLOYMENT &amp; VERIFICATION</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Live, open-source, and tested</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12</a:t>
            </a:r>
          </a:p>
        </p:txBody>
      </p:sp>
      <p:sp>
        <p:nvSpPr>
          <p:cNvPr id="7" name="Rounded Rectangle 6"/>
          <p:cNvSpPr/>
          <p:nvPr/>
        </p:nvSpPr>
        <p:spPr>
          <a:xfrm>
            <a:off x="548640" y="1737360"/>
            <a:ext cx="5486400" cy="214884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737360"/>
            <a:ext cx="64008" cy="214884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5029200" cy="365760"/>
          </a:xfrm>
          <a:prstGeom prst="rect">
            <a:avLst/>
          </a:prstGeom>
          <a:noFill/>
        </p:spPr>
        <p:txBody>
          <a:bodyPr wrap="square" anchor="t" lIns="36576" rIns="36576" tIns="0" bIns="0">
            <a:spAutoFit/>
          </a:bodyPr>
          <a:lstStyle/>
          <a:p>
            <a:pPr algn="l">
              <a:lnSpc>
                <a:spcPct val="112000"/>
              </a:lnSpc>
            </a:pPr>
            <a:r>
              <a:rPr sz="1600" b="1">
                <a:solidFill>
                  <a:srgbClr val="0B3D91"/>
                </a:solidFill>
                <a:latin typeface="Calibri"/>
              </a:rPr>
              <a:t>✅  Live in production</a:t>
            </a:r>
          </a:p>
        </p:txBody>
      </p:sp>
      <p:sp>
        <p:nvSpPr>
          <p:cNvPr id="10" name="TextBox 9"/>
          <p:cNvSpPr txBox="1"/>
          <p:nvPr/>
        </p:nvSpPr>
        <p:spPr>
          <a:xfrm>
            <a:off x="777240" y="2286000"/>
            <a:ext cx="5029200" cy="1463040"/>
          </a:xfrm>
          <a:prstGeom prst="rect">
            <a:avLst/>
          </a:prstGeom>
          <a:noFill/>
        </p:spPr>
        <p:txBody>
          <a:bodyPr wrap="square" anchor="t" lIns="36576" rIns="36576" tIns="0" bIns="0">
            <a:spAutoFit/>
          </a:bodyPr>
          <a:lstStyle/>
          <a:p>
            <a:pPr algn="l">
              <a:lnSpc>
                <a:spcPct val="112000"/>
              </a:lnSpc>
            </a:pPr>
            <a:r>
              <a:rPr sz="1250" b="0">
                <a:solidFill>
                  <a:srgbClr val="141B2E"/>
                </a:solidFill>
                <a:latin typeface="Calibri"/>
              </a:rPr>
              <a:t>•  Vercel — static + one serverless function</a:t>
            </a:r>
          </a:p>
          <a:p>
            <a:pPr algn="l">
              <a:lnSpc>
                <a:spcPct val="112000"/>
              </a:lnSpc>
            </a:pPr>
            <a:r>
              <a:rPr sz="1250" b="0">
                <a:solidFill>
                  <a:srgbClr val="141B2E"/>
                </a:solidFill>
                <a:latin typeface="Calibri"/>
              </a:rPr>
              <a:t>•  HTTP 200 · public · no auth wall</a:t>
            </a:r>
          </a:p>
          <a:p>
            <a:pPr algn="l">
              <a:lnSpc>
                <a:spcPct val="112000"/>
              </a:lnSpc>
            </a:pPr>
            <a:r>
              <a:rPr sz="1200" b="1">
                <a:solidFill>
                  <a:srgbClr val="138808"/>
                </a:solidFill>
                <a:latin typeface="Calibri"/>
              </a:rPr>
              <a:t>•  https://webapp-kohl-six-95.vercel.app</a:t>
            </a:r>
          </a:p>
          <a:p>
            <a:pPr algn="l">
              <a:lnSpc>
                <a:spcPct val="112000"/>
              </a:lnSpc>
            </a:pPr>
            <a:r>
              <a:rPr sz="1200" b="1">
                <a:solidFill>
                  <a:srgbClr val="0B3D91"/>
                </a:solidFill>
                <a:latin typeface="Calibri"/>
              </a:rPr>
              <a:t>•  https://github.com/no6546559-sketch/bharat-setu</a:t>
            </a:r>
          </a:p>
        </p:txBody>
      </p:sp>
      <p:sp>
        <p:nvSpPr>
          <p:cNvPr id="11" name="Rounded Rectangle 10"/>
          <p:cNvSpPr/>
          <p:nvPr/>
        </p:nvSpPr>
        <p:spPr>
          <a:xfrm>
            <a:off x="6172200" y="1737360"/>
            <a:ext cx="5468112" cy="2148840"/>
          </a:xfrm>
          <a:prstGeom prst="roundRect">
            <a:avLst>
              <a:gd name="adj" fmla="val 7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37360"/>
            <a:ext cx="64008" cy="214884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874519"/>
            <a:ext cx="5029200" cy="365760"/>
          </a:xfrm>
          <a:prstGeom prst="rect">
            <a:avLst/>
          </a:prstGeom>
          <a:noFill/>
        </p:spPr>
        <p:txBody>
          <a:bodyPr wrap="square" anchor="t" lIns="36576" rIns="36576" tIns="0" bIns="0">
            <a:spAutoFit/>
          </a:bodyPr>
          <a:lstStyle/>
          <a:p>
            <a:pPr algn="l">
              <a:lnSpc>
                <a:spcPct val="112000"/>
              </a:lnSpc>
            </a:pPr>
            <a:r>
              <a:rPr sz="1600" b="1">
                <a:solidFill>
                  <a:srgbClr val="0B3D91"/>
                </a:solidFill>
                <a:latin typeface="Calibri"/>
              </a:rPr>
              <a:t>🧪  63 assertions, 0 failures</a:t>
            </a:r>
          </a:p>
        </p:txBody>
      </p:sp>
      <p:sp>
        <p:nvSpPr>
          <p:cNvPr id="14" name="TextBox 13"/>
          <p:cNvSpPr txBox="1"/>
          <p:nvPr/>
        </p:nvSpPr>
        <p:spPr>
          <a:xfrm>
            <a:off x="6400800" y="2286000"/>
            <a:ext cx="5120640" cy="1463040"/>
          </a:xfrm>
          <a:prstGeom prst="rect">
            <a:avLst/>
          </a:prstGeom>
          <a:noFill/>
        </p:spPr>
        <p:txBody>
          <a:bodyPr wrap="square" anchor="t" lIns="36576" rIns="36576" tIns="0" bIns="0">
            <a:spAutoFit/>
          </a:bodyPr>
          <a:lstStyle/>
          <a:p>
            <a:pPr algn="l">
              <a:lnSpc>
                <a:spcPct val="112000"/>
              </a:lnSpc>
            </a:pPr>
            <a:r>
              <a:rPr sz="1150" b="0">
                <a:solidFill>
                  <a:srgbClr val="5A647A"/>
                </a:solidFill>
                <a:latin typeface="Calibri"/>
              </a:rPr>
              <a:t>Run against the SHIPPED bytes, not a re-implementation:</a:t>
            </a:r>
          </a:p>
          <a:p>
            <a:pPr algn="l">
              <a:lnSpc>
                <a:spcPct val="112000"/>
              </a:lnSpc>
              <a:spcBef>
                <a:spcPts val="400"/>
              </a:spcBef>
            </a:pPr>
            <a:r>
              <a:rPr sz="1200" b="0">
                <a:solidFill>
                  <a:srgbClr val="141B2E"/>
                </a:solidFill>
                <a:latin typeface="Calibri"/>
              </a:rPr>
              <a:t>•  eligibility · documents · fraud · NLU</a:t>
            </a:r>
          </a:p>
          <a:p>
            <a:pPr algn="l">
              <a:lnSpc>
                <a:spcPct val="112000"/>
              </a:lnSpc>
            </a:pPr>
            <a:r>
              <a:rPr sz="1200" b="0">
                <a:solidFill>
                  <a:srgbClr val="141B2E"/>
                </a:solidFill>
                <a:latin typeface="Calibri"/>
              </a:rPr>
              <a:t>•  grounded answers · letters · i18n</a:t>
            </a:r>
          </a:p>
          <a:p>
            <a:pPr algn="l">
              <a:lnSpc>
                <a:spcPct val="112000"/>
              </a:lnSpc>
            </a:pPr>
            <a:r>
              <a:rPr sz="1200" b="0">
                <a:solidFill>
                  <a:srgbClr val="141B2E"/>
                </a:solidFill>
                <a:latin typeface="Calibri"/>
              </a:rPr>
              <a:t>•  live /api/ai endpoint + graceful fallback</a:t>
            </a:r>
          </a:p>
          <a:p>
            <a:pPr algn="l">
              <a:lnSpc>
                <a:spcPct val="112000"/>
              </a:lnSpc>
              <a:spcBef>
                <a:spcPts val="400"/>
              </a:spcBef>
            </a:pPr>
            <a:r>
              <a:rPr sz="1150" b="0">
                <a:solidFill>
                  <a:srgbClr val="5A647A"/>
                </a:solidFill>
                <a:latin typeface="Calibri"/>
              </a:rPr>
              <a:t>Plus a build validator on every scheme.</a:t>
            </a:r>
          </a:p>
        </p:txBody>
      </p:sp>
      <p:sp>
        <p:nvSpPr>
          <p:cNvPr id="15" name="Rounded Rectangle 14"/>
          <p:cNvSpPr/>
          <p:nvPr/>
        </p:nvSpPr>
        <p:spPr>
          <a:xfrm>
            <a:off x="548640" y="4069080"/>
            <a:ext cx="11091672" cy="1828800"/>
          </a:xfrm>
          <a:prstGeom prst="roundRect">
            <a:avLst>
              <a:gd name="adj" fmla="val 6000"/>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279392"/>
            <a:ext cx="10515600" cy="1463040"/>
          </a:xfrm>
          <a:prstGeom prst="rect">
            <a:avLst/>
          </a:prstGeom>
          <a:noFill/>
        </p:spPr>
        <p:txBody>
          <a:bodyPr wrap="square" anchor="t" lIns="36576" rIns="36576" tIns="0" bIns="0">
            <a:spAutoFit/>
          </a:bodyPr>
          <a:lstStyle/>
          <a:p>
            <a:pPr algn="l">
              <a:lnSpc>
                <a:spcPct val="112000"/>
              </a:lnSpc>
            </a:pPr>
            <a:r>
              <a:rPr sz="1500" b="1">
                <a:solidFill>
                  <a:srgbClr val="FFFFFF"/>
                </a:solidFill>
                <a:latin typeface="Calibri"/>
              </a:rPr>
              <a:t>API surface</a:t>
            </a:r>
          </a:p>
          <a:p>
            <a:pPr algn="l">
              <a:lnSpc>
                <a:spcPct val="112000"/>
              </a:lnSpc>
              <a:spcBef>
                <a:spcPts val="800"/>
              </a:spcBef>
            </a:pPr>
            <a:r>
              <a:rPr sz="1300" b="0">
                <a:solidFill>
                  <a:srgbClr val="DDE6FA"/>
                </a:solidFill>
                <a:latin typeface="Calibri"/>
              </a:rPr>
              <a:t>GET  /api/ai    →  { ok, ai_enabled, model, schemes, modes }</a:t>
            </a:r>
          </a:p>
          <a:p>
            <a:pPr algn="l">
              <a:lnSpc>
                <a:spcPct val="112000"/>
              </a:lnSpc>
              <a:spcBef>
                <a:spcPts val="400"/>
              </a:spcBef>
            </a:pPr>
            <a:r>
              <a:rPr sz="1300" b="0">
                <a:solidFill>
                  <a:srgbClr val="DDE6FA"/>
                </a:solidFill>
                <a:latin typeface="Calibri"/>
              </a:rPr>
              <a:t>POST /api/ai    →  mode: chat  |  letter  |  fraud</a:t>
            </a:r>
          </a:p>
          <a:p>
            <a:pPr algn="l">
              <a:lnSpc>
                <a:spcPct val="112000"/>
              </a:lnSpc>
              <a:spcBef>
                <a:spcPts val="800"/>
              </a:spcBef>
            </a:pPr>
            <a:r>
              <a:rPr sz="1250" b="1">
                <a:solidFill>
                  <a:srgbClr val="9FE0A8"/>
                </a:solidFill>
                <a:latin typeface="Calibri"/>
              </a:rPr>
              <a:t>Any failure returns { ok:false, fallback:true } and the client answers offline.</a:t>
            </a:r>
          </a:p>
        </p:txBody>
      </p:sp>
      <p:sp>
        <p:nvSpPr>
          <p:cNvPr id="17" name="TextBox 16"/>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
            <a:ext cx="12191695" cy="18288"/>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10896"/>
            <a:ext cx="10424160" cy="274320"/>
          </a:xfrm>
          <a:prstGeom prst="rect">
            <a:avLst/>
          </a:prstGeom>
          <a:noFill/>
        </p:spPr>
        <p:txBody>
          <a:bodyPr wrap="square" anchor="t" lIns="36576" rIns="36576" tIns="0" bIns="0">
            <a:spAutoFit/>
          </a:bodyPr>
          <a:lstStyle/>
          <a:p>
            <a:pPr algn="l">
              <a:lnSpc>
                <a:spcPct val="112000"/>
              </a:lnSpc>
            </a:pPr>
            <a:r>
              <a:rPr sz="1150" b="1">
                <a:solidFill>
                  <a:srgbClr val="FF9933"/>
                </a:solidFill>
                <a:latin typeface="Calibri"/>
              </a:rPr>
              <a:t>EVALUATION CRITERIA</a:t>
            </a:r>
          </a:p>
        </p:txBody>
      </p:sp>
      <p:sp>
        <p:nvSpPr>
          <p:cNvPr id="5" name="TextBox 4"/>
          <p:cNvSpPr txBox="1"/>
          <p:nvPr/>
        </p:nvSpPr>
        <p:spPr>
          <a:xfrm>
            <a:off x="548640" y="566928"/>
            <a:ext cx="10789920" cy="640080"/>
          </a:xfrm>
          <a:prstGeom prst="rect">
            <a:avLst/>
          </a:prstGeom>
          <a:noFill/>
        </p:spPr>
        <p:txBody>
          <a:bodyPr wrap="square" anchor="t" lIns="36576" rIns="36576" tIns="0" bIns="0">
            <a:spAutoFit/>
          </a:bodyPr>
          <a:lstStyle/>
          <a:p>
            <a:pPr algn="l">
              <a:lnSpc>
                <a:spcPct val="112000"/>
              </a:lnSpc>
            </a:pPr>
            <a:r>
              <a:rPr sz="2900" b="1">
                <a:solidFill>
                  <a:srgbClr val="0B3D91"/>
                </a:solidFill>
                <a:latin typeface="Calibri"/>
              </a:rPr>
              <a:t>How Bharat Setu scores on each axis</a:t>
            </a:r>
          </a:p>
        </p:txBody>
      </p:sp>
      <p:sp>
        <p:nvSpPr>
          <p:cNvPr id="6" name="TextBox 5"/>
          <p:cNvSpPr txBox="1"/>
          <p:nvPr/>
        </p:nvSpPr>
        <p:spPr>
          <a:xfrm>
            <a:off x="11292840" y="6355080"/>
            <a:ext cx="457200" cy="274320"/>
          </a:xfrm>
          <a:prstGeom prst="rect">
            <a:avLst/>
          </a:prstGeom>
          <a:noFill/>
        </p:spPr>
        <p:txBody>
          <a:bodyPr wrap="square" anchor="t" lIns="36576" rIns="36576" tIns="0" bIns="0">
            <a:spAutoFit/>
          </a:bodyPr>
          <a:lstStyle/>
          <a:p>
            <a:pPr algn="r">
              <a:lnSpc>
                <a:spcPct val="112000"/>
              </a:lnSpc>
            </a:pPr>
            <a:r>
              <a:rPr sz="1000" b="1">
                <a:solidFill>
                  <a:srgbClr val="5A647A"/>
                </a:solidFill>
                <a:latin typeface="Calibri"/>
              </a:rPr>
              <a:t>13</a:t>
            </a:r>
          </a:p>
        </p:txBody>
      </p:sp>
      <p:sp>
        <p:nvSpPr>
          <p:cNvPr id="7" name="Rounded Rectangle 6"/>
          <p:cNvSpPr/>
          <p:nvPr/>
        </p:nvSpPr>
        <p:spPr>
          <a:xfrm>
            <a:off x="548640" y="1691640"/>
            <a:ext cx="11091672" cy="73152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91640"/>
            <a:ext cx="64008" cy="73152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74520"/>
            <a:ext cx="2514600" cy="45720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Innovation &amp; Originality</a:t>
            </a:r>
          </a:p>
        </p:txBody>
      </p:sp>
      <p:sp>
        <p:nvSpPr>
          <p:cNvPr id="10" name="TextBox 9"/>
          <p:cNvSpPr txBox="1"/>
          <p:nvPr/>
        </p:nvSpPr>
        <p:spPr>
          <a:xfrm>
            <a:off x="3337560" y="1792224"/>
            <a:ext cx="8183879" cy="59436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Explainable eligibility (verdict with evidence); grounded AI that degrades to a deterministic engine; ₹ benefit estimator; document intelligence; Fraud Shield that explains why.</a:t>
            </a:r>
          </a:p>
        </p:txBody>
      </p:sp>
      <p:sp>
        <p:nvSpPr>
          <p:cNvPr id="11" name="Rounded Rectangle 10"/>
          <p:cNvSpPr/>
          <p:nvPr/>
        </p:nvSpPr>
        <p:spPr>
          <a:xfrm>
            <a:off x="548640" y="2478024"/>
            <a:ext cx="11091672" cy="73152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478024"/>
            <a:ext cx="64008" cy="7315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660904"/>
            <a:ext cx="2514600" cy="45720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Technical Implementation</a:t>
            </a:r>
          </a:p>
        </p:txBody>
      </p:sp>
      <p:sp>
        <p:nvSpPr>
          <p:cNvPr id="14" name="TextBox 13"/>
          <p:cNvSpPr txBox="1"/>
          <p:nvPr/>
        </p:nvSpPr>
        <p:spPr>
          <a:xfrm>
            <a:off x="3337560" y="2578608"/>
            <a:ext cx="8183879" cy="59436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43-scheme machine-readable KB; custom NLU; 13-language i18n; PWA offline; service worker; serverless proxy with rate limiting + model fallback; 63-test suite; build validator.</a:t>
            </a:r>
          </a:p>
        </p:txBody>
      </p:sp>
      <p:sp>
        <p:nvSpPr>
          <p:cNvPr id="15" name="Rounded Rectangle 14"/>
          <p:cNvSpPr/>
          <p:nvPr/>
        </p:nvSpPr>
        <p:spPr>
          <a:xfrm>
            <a:off x="548640" y="3264408"/>
            <a:ext cx="11091672" cy="73152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64408"/>
            <a:ext cx="64008" cy="73152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447288"/>
            <a:ext cx="2514600" cy="45720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Real-World Impact</a:t>
            </a:r>
          </a:p>
        </p:txBody>
      </p:sp>
      <p:sp>
        <p:nvSpPr>
          <p:cNvPr id="18" name="TextBox 17"/>
          <p:cNvSpPr txBox="1"/>
          <p:nvPr/>
        </p:nvSpPr>
        <p:spPr>
          <a:xfrm>
            <a:off x="3337560" y="3364992"/>
            <a:ext cx="8183879" cy="59436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Targets the last-mile information gap in India's welfare delivery, aimed at the exact groups most excluded.</a:t>
            </a:r>
          </a:p>
        </p:txBody>
      </p:sp>
      <p:sp>
        <p:nvSpPr>
          <p:cNvPr id="19" name="Rounded Rectangle 18"/>
          <p:cNvSpPr/>
          <p:nvPr/>
        </p:nvSpPr>
        <p:spPr>
          <a:xfrm>
            <a:off x="548640" y="4050792"/>
            <a:ext cx="11091672" cy="73152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050792"/>
            <a:ext cx="64008" cy="73152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233672"/>
            <a:ext cx="2514600" cy="45720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Usability</a:t>
            </a:r>
          </a:p>
        </p:txBody>
      </p:sp>
      <p:sp>
        <p:nvSpPr>
          <p:cNvPr id="22" name="TextBox 21"/>
          <p:cNvSpPr txBox="1"/>
          <p:nvPr/>
        </p:nvSpPr>
        <p:spPr>
          <a:xfrm>
            <a:off x="3337560" y="4151376"/>
            <a:ext cx="8183879" cy="59436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13 languages incl. RTL; voice in/out; font scaling; high contrast; dark mode; Simple Mode; plain-language glossary; one-tap demo profile.</a:t>
            </a:r>
          </a:p>
        </p:txBody>
      </p:sp>
      <p:sp>
        <p:nvSpPr>
          <p:cNvPr id="23" name="Rounded Rectangle 22"/>
          <p:cNvSpPr/>
          <p:nvPr/>
        </p:nvSpPr>
        <p:spPr>
          <a:xfrm>
            <a:off x="548640" y="4837176"/>
            <a:ext cx="11091672" cy="73152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837176"/>
            <a:ext cx="64008" cy="73152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020056"/>
            <a:ext cx="2514600" cy="45720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Scalability</a:t>
            </a:r>
          </a:p>
        </p:txBody>
      </p:sp>
      <p:sp>
        <p:nvSpPr>
          <p:cNvPr id="26" name="TextBox 25"/>
          <p:cNvSpPr txBox="1"/>
          <p:nvPr/>
        </p:nvSpPr>
        <p:spPr>
          <a:xfrm>
            <a:off x="3337560" y="4937760"/>
            <a:ext cx="8183879" cy="59436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Fully static front end on a global CDN; stateless function; the KB is a data file so schemes/languages are additive; no database to scale.</a:t>
            </a:r>
          </a:p>
        </p:txBody>
      </p:sp>
      <p:sp>
        <p:nvSpPr>
          <p:cNvPr id="27" name="Rounded Rectangle 26"/>
          <p:cNvSpPr/>
          <p:nvPr/>
        </p:nvSpPr>
        <p:spPr>
          <a:xfrm>
            <a:off x="548640" y="5623560"/>
            <a:ext cx="11091672" cy="731520"/>
          </a:xfrm>
          <a:prstGeom prst="roundRect">
            <a:avLst>
              <a:gd name="adj" fmla="val 10000"/>
            </a:avLst>
          </a:prstGeom>
          <a:solidFill>
            <a:srgbClr val="FFFFFF"/>
          </a:solidFill>
          <a:ln w="12700">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623560"/>
            <a:ext cx="64008" cy="73152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5806440"/>
            <a:ext cx="2514600" cy="457200"/>
          </a:xfrm>
          <a:prstGeom prst="rect">
            <a:avLst/>
          </a:prstGeom>
          <a:noFill/>
        </p:spPr>
        <p:txBody>
          <a:bodyPr wrap="square" anchor="t" lIns="36576" rIns="36576" tIns="0" bIns="0">
            <a:spAutoFit/>
          </a:bodyPr>
          <a:lstStyle/>
          <a:p>
            <a:pPr algn="l">
              <a:lnSpc>
                <a:spcPct val="112000"/>
              </a:lnSpc>
            </a:pPr>
            <a:r>
              <a:rPr sz="1300" b="1">
                <a:solidFill>
                  <a:srgbClr val="0B3D91"/>
                </a:solidFill>
                <a:latin typeface="Calibri"/>
              </a:rPr>
              <a:t>Presentation &amp; Demo</a:t>
            </a:r>
          </a:p>
        </p:txBody>
      </p:sp>
      <p:sp>
        <p:nvSpPr>
          <p:cNvPr id="30" name="TextBox 29"/>
          <p:cNvSpPr txBox="1"/>
          <p:nvPr/>
        </p:nvSpPr>
        <p:spPr>
          <a:xfrm>
            <a:off x="3337560" y="5724144"/>
            <a:ext cx="8183879" cy="594360"/>
          </a:xfrm>
          <a:prstGeom prst="rect">
            <a:avLst/>
          </a:prstGeom>
          <a:noFill/>
        </p:spPr>
        <p:txBody>
          <a:bodyPr wrap="square" anchor="t" lIns="36576" rIns="36576" tIns="0" bIns="0">
            <a:spAutoFit/>
          </a:bodyPr>
          <a:lstStyle/>
          <a:p>
            <a:pPr algn="l">
              <a:lnSpc>
                <a:spcPct val="112000"/>
              </a:lnSpc>
            </a:pPr>
            <a:r>
              <a:rPr sz="1050" b="0">
                <a:solidFill>
                  <a:srgbClr val="141B2E"/>
                </a:solidFill>
                <a:latin typeface="Calibri"/>
              </a:rPr>
              <a:t>Live URL + GitHub + written report + this deck; a guided 60-second demo path.</a:t>
            </a:r>
          </a:p>
        </p:txBody>
      </p:sp>
      <p:sp>
        <p:nvSpPr>
          <p:cNvPr id="31" name="TextBox 30"/>
          <p:cNvSpPr txBox="1"/>
          <p:nvPr/>
        </p:nvSpPr>
        <p:spPr>
          <a:xfrm>
            <a:off x="548640" y="6355080"/>
            <a:ext cx="5486400" cy="274320"/>
          </a:xfrm>
          <a:prstGeom prst="rect">
            <a:avLst/>
          </a:prstGeom>
          <a:noFill/>
        </p:spPr>
        <p:txBody>
          <a:bodyPr wrap="square" anchor="t" lIns="36576" rIns="36576" tIns="0" bIns="0">
            <a:spAutoFit/>
          </a:bodyPr>
          <a:lstStyle/>
          <a:p>
            <a:pPr algn="l">
              <a:lnSpc>
                <a:spcPct val="112000"/>
              </a:lnSpc>
            </a:pPr>
            <a:r>
              <a:rPr sz="950" b="0">
                <a:solidFill>
                  <a:srgbClr val="5A647A"/>
                </a:solidFill>
                <a:latin typeface="Calibri"/>
              </a:rPr>
              <a:t>Bharat Setu · भारत सेतु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F9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1168" y="0"/>
            <a:ext cx="731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0"/>
            <a:ext cx="73152" cy="6858000"/>
          </a:xfrm>
          <a:prstGeom prst="rect">
            <a:avLst/>
          </a:prstGeom>
          <a:solidFill>
            <a:srgbClr val="138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777240"/>
            <a:ext cx="10332720" cy="365760"/>
          </a:xfrm>
          <a:prstGeom prst="rect">
            <a:avLst/>
          </a:prstGeom>
          <a:noFill/>
        </p:spPr>
        <p:txBody>
          <a:bodyPr wrap="square" anchor="t" lIns="36576" rIns="36576" tIns="0" bIns="0">
            <a:spAutoFit/>
          </a:bodyPr>
          <a:lstStyle/>
          <a:p>
            <a:pPr algn="l">
              <a:lnSpc>
                <a:spcPct val="112000"/>
              </a:lnSpc>
            </a:pPr>
            <a:r>
              <a:rPr sz="1300" b="1">
                <a:solidFill>
                  <a:srgbClr val="FF9933"/>
                </a:solidFill>
                <a:latin typeface="Calibri"/>
              </a:rPr>
              <a:t>CLOSING</a:t>
            </a:r>
          </a:p>
        </p:txBody>
      </p:sp>
      <p:sp>
        <p:nvSpPr>
          <p:cNvPr id="7" name="TextBox 6"/>
          <p:cNvSpPr txBox="1"/>
          <p:nvPr/>
        </p:nvSpPr>
        <p:spPr>
          <a:xfrm>
            <a:off x="914400" y="1143000"/>
            <a:ext cx="10332720" cy="1097280"/>
          </a:xfrm>
          <a:prstGeom prst="rect">
            <a:avLst/>
          </a:prstGeom>
          <a:noFill/>
        </p:spPr>
        <p:txBody>
          <a:bodyPr wrap="square" anchor="t" lIns="36576" rIns="36576" tIns="0" bIns="0">
            <a:spAutoFit/>
          </a:bodyPr>
          <a:lstStyle/>
          <a:p>
            <a:pPr algn="l">
              <a:lnSpc>
                <a:spcPct val="112000"/>
              </a:lnSpc>
            </a:pPr>
            <a:r>
              <a:rPr sz="3000" b="1">
                <a:solidFill>
                  <a:srgbClr val="0B3D91"/>
                </a:solidFill>
                <a:latin typeface="Calibri"/>
              </a:rPr>
              <a:t>The hardest problem in welfare delivery</a:t>
            </a:r>
          </a:p>
          <a:p>
            <a:pPr algn="l">
              <a:lnSpc>
                <a:spcPct val="112000"/>
              </a:lnSpc>
              <a:spcBef>
                <a:spcPts val="400"/>
              </a:spcBef>
            </a:pPr>
            <a:r>
              <a:rPr sz="3000" b="1">
                <a:solidFill>
                  <a:srgbClr val="138808"/>
                </a:solidFill>
                <a:latin typeface="Calibri"/>
              </a:rPr>
              <a:t>is not eligibility — it is access.</a:t>
            </a:r>
          </a:p>
        </p:txBody>
      </p:sp>
      <p:sp>
        <p:nvSpPr>
          <p:cNvPr id="8" name="TextBox 7"/>
          <p:cNvSpPr txBox="1"/>
          <p:nvPr/>
        </p:nvSpPr>
        <p:spPr>
          <a:xfrm>
            <a:off x="914400" y="2514600"/>
            <a:ext cx="10058400" cy="822960"/>
          </a:xfrm>
          <a:prstGeom prst="rect">
            <a:avLst/>
          </a:prstGeom>
          <a:noFill/>
        </p:spPr>
        <p:txBody>
          <a:bodyPr wrap="square" anchor="t" lIns="36576" rIns="36576" tIns="0" bIns="0">
            <a:spAutoFit/>
          </a:bodyPr>
          <a:lstStyle/>
          <a:p>
            <a:pPr algn="l">
              <a:lnSpc>
                <a:spcPct val="112000"/>
              </a:lnSpc>
            </a:pPr>
            <a:r>
              <a:rPr sz="1550" b="0">
                <a:solidFill>
                  <a:srgbClr val="141B2E"/>
                </a:solidFill>
                <a:latin typeface="Calibri"/>
              </a:rPr>
              <a:t>Bharat Setu puts an explainable, offline, multilingual bridge in the citizen's pocket —</a:t>
            </a:r>
          </a:p>
          <a:p>
            <a:pPr algn="l">
              <a:lnSpc>
                <a:spcPct val="112000"/>
              </a:lnSpc>
              <a:spcBef>
                <a:spcPts val="400"/>
              </a:spcBef>
            </a:pPr>
            <a:r>
              <a:rPr sz="1550" b="0">
                <a:solidFill>
                  <a:srgbClr val="141B2E"/>
                </a:solidFill>
                <a:latin typeface="Calibri"/>
              </a:rPr>
              <a:t>so that the benefits they are owed are no longer hidden behind a form they cannot read.</a:t>
            </a:r>
          </a:p>
        </p:txBody>
      </p:sp>
      <p:sp>
        <p:nvSpPr>
          <p:cNvPr id="9" name="Rounded Rectangle 8"/>
          <p:cNvSpPr/>
          <p:nvPr/>
        </p:nvSpPr>
        <p:spPr>
          <a:xfrm>
            <a:off x="914400" y="3520440"/>
            <a:ext cx="2423160"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75304"/>
            <a:ext cx="2423160" cy="457200"/>
          </a:xfrm>
          <a:prstGeom prst="rect">
            <a:avLst/>
          </a:prstGeom>
          <a:noFill/>
        </p:spPr>
        <p:txBody>
          <a:bodyPr wrap="square" anchor="ctr" lIns="36576" rIns="36576" tIns="0" bIns="0">
            <a:spAutoFit/>
          </a:bodyPr>
          <a:lstStyle/>
          <a:p>
            <a:pPr algn="ctr">
              <a:lnSpc>
                <a:spcPct val="112000"/>
              </a:lnSpc>
            </a:pPr>
            <a:r>
              <a:rPr sz="1150" b="1">
                <a:solidFill>
                  <a:srgbClr val="138808"/>
                </a:solidFill>
                <a:latin typeface="Calibri"/>
              </a:rPr>
              <a:t>Live on Vercel</a:t>
            </a:r>
          </a:p>
        </p:txBody>
      </p:sp>
      <p:sp>
        <p:nvSpPr>
          <p:cNvPr id="11" name="Rounded Rectangle 10"/>
          <p:cNvSpPr/>
          <p:nvPr/>
        </p:nvSpPr>
        <p:spPr>
          <a:xfrm>
            <a:off x="3520440" y="3520440"/>
            <a:ext cx="2423160"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3575304"/>
            <a:ext cx="2423160" cy="457200"/>
          </a:xfrm>
          <a:prstGeom prst="rect">
            <a:avLst/>
          </a:prstGeom>
          <a:noFill/>
        </p:spPr>
        <p:txBody>
          <a:bodyPr wrap="square" anchor="ctr" lIns="36576" rIns="36576" tIns="0" bIns="0">
            <a:spAutoFit/>
          </a:bodyPr>
          <a:lstStyle/>
          <a:p>
            <a:pPr algn="ctr">
              <a:lnSpc>
                <a:spcPct val="112000"/>
              </a:lnSpc>
            </a:pPr>
            <a:r>
              <a:rPr sz="1150" b="1">
                <a:solidFill>
                  <a:srgbClr val="0B3D91"/>
                </a:solidFill>
                <a:latin typeface="Calibri"/>
              </a:rPr>
              <a:t>Open source on GitHub</a:t>
            </a:r>
          </a:p>
        </p:txBody>
      </p:sp>
      <p:sp>
        <p:nvSpPr>
          <p:cNvPr id="13" name="Rounded Rectangle 12"/>
          <p:cNvSpPr/>
          <p:nvPr/>
        </p:nvSpPr>
        <p:spPr>
          <a:xfrm>
            <a:off x="6126480" y="3520440"/>
            <a:ext cx="2423160"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3575304"/>
            <a:ext cx="2423160" cy="457200"/>
          </a:xfrm>
          <a:prstGeom prst="rect">
            <a:avLst/>
          </a:prstGeom>
          <a:noFill/>
        </p:spPr>
        <p:txBody>
          <a:bodyPr wrap="square" anchor="ctr" lIns="36576" rIns="36576" tIns="0" bIns="0">
            <a:spAutoFit/>
          </a:bodyPr>
          <a:lstStyle/>
          <a:p>
            <a:pPr algn="ctr">
              <a:lnSpc>
                <a:spcPct val="112000"/>
              </a:lnSpc>
            </a:pPr>
            <a:r>
              <a:rPr sz="1150" b="1">
                <a:solidFill>
                  <a:srgbClr val="138808"/>
                </a:solidFill>
                <a:latin typeface="Calibri"/>
              </a:rPr>
              <a:t>63/63 tests green</a:t>
            </a:r>
          </a:p>
        </p:txBody>
      </p:sp>
      <p:sp>
        <p:nvSpPr>
          <p:cNvPr id="15" name="Rounded Rectangle 14"/>
          <p:cNvSpPr/>
          <p:nvPr/>
        </p:nvSpPr>
        <p:spPr>
          <a:xfrm>
            <a:off x="8732520" y="3520440"/>
            <a:ext cx="2423160" cy="457200"/>
          </a:xfrm>
          <a:prstGeom prst="roundRect">
            <a:avLst>
              <a:gd name="adj" fmla="val 35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20" y="3575304"/>
            <a:ext cx="2423160" cy="457200"/>
          </a:xfrm>
          <a:prstGeom prst="rect">
            <a:avLst/>
          </a:prstGeom>
          <a:noFill/>
        </p:spPr>
        <p:txBody>
          <a:bodyPr wrap="square" anchor="ctr" lIns="36576" rIns="36576" tIns="0" bIns="0">
            <a:spAutoFit/>
          </a:bodyPr>
          <a:lstStyle/>
          <a:p>
            <a:pPr algn="ctr">
              <a:lnSpc>
                <a:spcPct val="112000"/>
              </a:lnSpc>
            </a:pPr>
            <a:r>
              <a:rPr sz="1150" b="1">
                <a:solidFill>
                  <a:srgbClr val="FF9933"/>
                </a:solidFill>
                <a:latin typeface="Calibri"/>
              </a:rPr>
              <a:t>Works offline</a:t>
            </a:r>
          </a:p>
        </p:txBody>
      </p:sp>
      <p:sp>
        <p:nvSpPr>
          <p:cNvPr id="17" name="Rounded Rectangle 16"/>
          <p:cNvSpPr/>
          <p:nvPr/>
        </p:nvSpPr>
        <p:spPr>
          <a:xfrm>
            <a:off x="914400" y="4206240"/>
            <a:ext cx="10360152" cy="1143000"/>
          </a:xfrm>
          <a:prstGeom prst="roundRect">
            <a:avLst>
              <a:gd name="adj" fmla="val 7000"/>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4370832"/>
            <a:ext cx="9875520" cy="914400"/>
          </a:xfrm>
          <a:prstGeom prst="rect">
            <a:avLst/>
          </a:prstGeom>
          <a:noFill/>
        </p:spPr>
        <p:txBody>
          <a:bodyPr wrap="square" anchor="t" lIns="36576" rIns="36576" tIns="0" bIns="0">
            <a:spAutoFit/>
          </a:bodyPr>
          <a:lstStyle/>
          <a:p>
            <a:pPr algn="l">
              <a:lnSpc>
                <a:spcPct val="112000"/>
              </a:lnSpc>
            </a:pPr>
            <a:r>
              <a:rPr sz="1400" b="1">
                <a:solidFill>
                  <a:srgbClr val="0B3D91"/>
                </a:solidFill>
                <a:latin typeface="Calibri"/>
              </a:rPr>
              <a:t>Live:  https://webapp-kohl-six-95.vercel.app</a:t>
            </a:r>
          </a:p>
          <a:p>
            <a:pPr algn="l">
              <a:lnSpc>
                <a:spcPct val="112000"/>
              </a:lnSpc>
              <a:spcBef>
                <a:spcPts val="500"/>
              </a:spcBef>
            </a:pPr>
            <a:r>
              <a:rPr sz="1400" b="0">
                <a:solidFill>
                  <a:srgbClr val="5A647A"/>
                </a:solidFill>
                <a:latin typeface="Calibri"/>
              </a:rPr>
              <a:t>Source:  https://github.com/no6546559-sketch/bharat-setu</a:t>
            </a:r>
          </a:p>
        </p:txBody>
      </p:sp>
      <p:sp>
        <p:nvSpPr>
          <p:cNvPr id="19" name="Rectangle 18"/>
          <p:cNvSpPr/>
          <p:nvPr/>
        </p:nvSpPr>
        <p:spPr>
          <a:xfrm>
            <a:off x="0" y="6035040"/>
            <a:ext cx="12191695" cy="8229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6199632"/>
            <a:ext cx="10332720" cy="457200"/>
          </a:xfrm>
          <a:prstGeom prst="rect">
            <a:avLst/>
          </a:prstGeom>
          <a:noFill/>
        </p:spPr>
        <p:txBody>
          <a:bodyPr wrap="square" anchor="t" lIns="36576" rIns="36576" tIns="0" bIns="0">
            <a:spAutoFit/>
          </a:bodyPr>
          <a:lstStyle/>
          <a:p>
            <a:pPr algn="l">
              <a:lnSpc>
                <a:spcPct val="112000"/>
              </a:lnSpc>
            </a:pPr>
            <a:r>
              <a:rPr sz="1300" b="1">
                <a:solidFill>
                  <a:srgbClr val="FFFFFF"/>
                </a:solidFill>
                <a:latin typeface="Calibri"/>
              </a:rPr>
              <a:t>🚨 112 emergency   ·   👩 181 women   ·   💳 1930 cyber fraud   ·   🧒 1098 child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